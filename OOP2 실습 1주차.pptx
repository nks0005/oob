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2"/>
  </p:notesMasterIdLst>
  <p:handoutMasterIdLst>
    <p:handoutMasterId r:id="rId33"/>
  </p:handoutMasterIdLst>
  <p:sldIdLst>
    <p:sldId id="291" r:id="rId3"/>
    <p:sldId id="276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92" r:id="rId17"/>
    <p:sldId id="286" r:id="rId18"/>
    <p:sldId id="293" r:id="rId19"/>
    <p:sldId id="275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5" r:id="rId29"/>
    <p:sldId id="284" r:id="rId30"/>
    <p:sldId id="306" r:id="rId31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3" autoAdjust="0"/>
    <p:restoredTop sz="82021" autoAdjust="0"/>
  </p:normalViewPr>
  <p:slideViewPr>
    <p:cSldViewPr>
      <p:cViewPr varScale="1">
        <p:scale>
          <a:sx n="62" d="100"/>
          <a:sy n="62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411F56-B1E9-4050-A6DB-496DFACBF820}" type="doc">
      <dgm:prSet loTypeId="urn:microsoft.com/office/officeart/2005/8/layout/venn2" loCatId="relationship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7A34AC67-D6EC-4464-9507-AD3C3AF99FCC}">
      <dgm:prSet phldrT="[텍스트]" custT="1"/>
      <dgm:spPr/>
      <dgm:t>
        <a:bodyPr/>
        <a:lstStyle/>
        <a:p>
          <a:pPr latinLnBrk="1"/>
          <a:r>
            <a:rPr lang="en-US" altLang="ko-KR" sz="1800" b="1"/>
            <a:t>Public</a:t>
          </a:r>
          <a:endParaRPr lang="ko-KR" altLang="en-US" sz="1800" b="1"/>
        </a:p>
      </dgm:t>
    </dgm:pt>
    <dgm:pt modelId="{4722BDA4-55DD-4D5A-BBFD-5212B6BA58E7}" type="parTrans" cxnId="{D10FE067-C2B1-4402-8988-A46BF4061781}">
      <dgm:prSet/>
      <dgm:spPr/>
      <dgm:t>
        <a:bodyPr/>
        <a:lstStyle/>
        <a:p>
          <a:pPr latinLnBrk="1"/>
          <a:endParaRPr lang="ko-KR" altLang="en-US"/>
        </a:p>
      </dgm:t>
    </dgm:pt>
    <dgm:pt modelId="{4F6A5A73-C879-4495-A230-DCB26211AF4F}" type="sibTrans" cxnId="{D10FE067-C2B1-4402-8988-A46BF4061781}">
      <dgm:prSet/>
      <dgm:spPr/>
      <dgm:t>
        <a:bodyPr/>
        <a:lstStyle/>
        <a:p>
          <a:pPr latinLnBrk="1"/>
          <a:endParaRPr lang="ko-KR" altLang="en-US"/>
        </a:p>
      </dgm:t>
    </dgm:pt>
    <dgm:pt modelId="{8BE83F2B-53BD-401A-838A-4D81F1EC4197}">
      <dgm:prSet phldrT="[텍스트]" custT="1"/>
      <dgm:spPr/>
      <dgm:t>
        <a:bodyPr/>
        <a:lstStyle/>
        <a:p>
          <a:pPr latinLnBrk="1"/>
          <a:r>
            <a:rPr lang="en-US" altLang="ko-KR" sz="1800" b="1"/>
            <a:t>Protected</a:t>
          </a:r>
          <a:endParaRPr lang="ko-KR" altLang="en-US" sz="1800" b="1"/>
        </a:p>
      </dgm:t>
    </dgm:pt>
    <dgm:pt modelId="{AB2B2F2B-793E-4605-B1A6-BB2663A94436}" type="parTrans" cxnId="{6F443EB4-A305-44ED-AA6E-0297059B4740}">
      <dgm:prSet/>
      <dgm:spPr/>
      <dgm:t>
        <a:bodyPr/>
        <a:lstStyle/>
        <a:p>
          <a:pPr latinLnBrk="1"/>
          <a:endParaRPr lang="ko-KR" altLang="en-US"/>
        </a:p>
      </dgm:t>
    </dgm:pt>
    <dgm:pt modelId="{2DC61359-28E3-4382-8C06-F5A54EE44216}" type="sibTrans" cxnId="{6F443EB4-A305-44ED-AA6E-0297059B4740}">
      <dgm:prSet/>
      <dgm:spPr/>
      <dgm:t>
        <a:bodyPr/>
        <a:lstStyle/>
        <a:p>
          <a:pPr latinLnBrk="1"/>
          <a:endParaRPr lang="ko-KR" altLang="en-US"/>
        </a:p>
      </dgm:t>
    </dgm:pt>
    <dgm:pt modelId="{18D24AE3-8757-49F8-A4C9-31F05B4C6A74}">
      <dgm:prSet phldrT="[텍스트]" custT="1"/>
      <dgm:spPr/>
      <dgm:t>
        <a:bodyPr/>
        <a:lstStyle/>
        <a:p>
          <a:pPr latinLnBrk="1"/>
          <a:r>
            <a:rPr lang="en-US" altLang="ko-KR" sz="1800" b="1" dirty="0"/>
            <a:t>Private</a:t>
          </a:r>
          <a:endParaRPr lang="ko-KR" altLang="en-US" sz="1800" b="1" dirty="0"/>
        </a:p>
      </dgm:t>
    </dgm:pt>
    <dgm:pt modelId="{1ABAF2F7-47F5-4F86-B96B-A01CA5D2DF0C}" type="parTrans" cxnId="{31D86972-A53A-4365-B747-4739FF02BBDD}">
      <dgm:prSet/>
      <dgm:spPr/>
      <dgm:t>
        <a:bodyPr/>
        <a:lstStyle/>
        <a:p>
          <a:pPr latinLnBrk="1"/>
          <a:endParaRPr lang="ko-KR" altLang="en-US"/>
        </a:p>
      </dgm:t>
    </dgm:pt>
    <dgm:pt modelId="{114BEE1D-0FF7-4784-A272-303EE03C5528}" type="sibTrans" cxnId="{31D86972-A53A-4365-B747-4739FF02BBDD}">
      <dgm:prSet/>
      <dgm:spPr/>
      <dgm:t>
        <a:bodyPr/>
        <a:lstStyle/>
        <a:p>
          <a:pPr latinLnBrk="1"/>
          <a:endParaRPr lang="ko-KR" altLang="en-US"/>
        </a:p>
      </dgm:t>
    </dgm:pt>
    <dgm:pt modelId="{ECB236E5-54C6-4F28-8EF8-A72A69582CD0}" type="pres">
      <dgm:prSet presAssocID="{6C411F56-B1E9-4050-A6DB-496DFACBF820}" presName="Name0" presStyleCnt="0">
        <dgm:presLayoutVars>
          <dgm:chMax val="7"/>
          <dgm:resizeHandles val="exact"/>
        </dgm:presLayoutVars>
      </dgm:prSet>
      <dgm:spPr/>
    </dgm:pt>
    <dgm:pt modelId="{CB601ED1-F7A2-46E6-9405-010B2E387016}" type="pres">
      <dgm:prSet presAssocID="{6C411F56-B1E9-4050-A6DB-496DFACBF820}" presName="comp1" presStyleCnt="0"/>
      <dgm:spPr/>
    </dgm:pt>
    <dgm:pt modelId="{EBFDE533-D67A-48FF-881F-8908D8AFBC57}" type="pres">
      <dgm:prSet presAssocID="{6C411F56-B1E9-4050-A6DB-496DFACBF820}" presName="circle1" presStyleLbl="node1" presStyleIdx="0" presStyleCnt="3" custLinFactNeighborY="1903"/>
      <dgm:spPr/>
    </dgm:pt>
    <dgm:pt modelId="{420B4C48-CFB0-45E3-8D4D-B4B5E40582E4}" type="pres">
      <dgm:prSet presAssocID="{6C411F56-B1E9-4050-A6DB-496DFACBF820}" presName="c1text" presStyleLbl="node1" presStyleIdx="0" presStyleCnt="3">
        <dgm:presLayoutVars>
          <dgm:bulletEnabled val="1"/>
        </dgm:presLayoutVars>
      </dgm:prSet>
      <dgm:spPr/>
    </dgm:pt>
    <dgm:pt modelId="{CAD24542-03A9-4BCC-8BE0-16A8F332C0ED}" type="pres">
      <dgm:prSet presAssocID="{6C411F56-B1E9-4050-A6DB-496DFACBF820}" presName="comp2" presStyleCnt="0"/>
      <dgm:spPr/>
    </dgm:pt>
    <dgm:pt modelId="{08D281DF-3623-441F-9364-940DFDBB543D}" type="pres">
      <dgm:prSet presAssocID="{6C411F56-B1E9-4050-A6DB-496DFACBF820}" presName="circle2" presStyleLbl="node1" presStyleIdx="1" presStyleCnt="3"/>
      <dgm:spPr/>
    </dgm:pt>
    <dgm:pt modelId="{BCADE44B-3F5D-4C2C-88E8-97A74FC8491C}" type="pres">
      <dgm:prSet presAssocID="{6C411F56-B1E9-4050-A6DB-496DFACBF820}" presName="c2text" presStyleLbl="node1" presStyleIdx="1" presStyleCnt="3">
        <dgm:presLayoutVars>
          <dgm:bulletEnabled val="1"/>
        </dgm:presLayoutVars>
      </dgm:prSet>
      <dgm:spPr/>
    </dgm:pt>
    <dgm:pt modelId="{DBA845DC-1986-4E41-8D71-0D7679DC72F1}" type="pres">
      <dgm:prSet presAssocID="{6C411F56-B1E9-4050-A6DB-496DFACBF820}" presName="comp3" presStyleCnt="0"/>
      <dgm:spPr/>
    </dgm:pt>
    <dgm:pt modelId="{43E40CDE-CB8B-4EEF-8BCB-5665830397DE}" type="pres">
      <dgm:prSet presAssocID="{6C411F56-B1E9-4050-A6DB-496DFACBF820}" presName="circle3" presStyleLbl="node1" presStyleIdx="2" presStyleCnt="3"/>
      <dgm:spPr/>
    </dgm:pt>
    <dgm:pt modelId="{D699A436-AFDD-4E1A-A411-8BB894F7658B}" type="pres">
      <dgm:prSet presAssocID="{6C411F56-B1E9-4050-A6DB-496DFACBF820}" presName="c3text" presStyleLbl="node1" presStyleIdx="2" presStyleCnt="3">
        <dgm:presLayoutVars>
          <dgm:bulletEnabled val="1"/>
        </dgm:presLayoutVars>
      </dgm:prSet>
      <dgm:spPr/>
    </dgm:pt>
  </dgm:ptLst>
  <dgm:cxnLst>
    <dgm:cxn modelId="{924B1487-6B94-4831-B899-DC7D5D3B035E}" type="presOf" srcId="{8BE83F2B-53BD-401A-838A-4D81F1EC4197}" destId="{BCADE44B-3F5D-4C2C-88E8-97A74FC8491C}" srcOrd="1" destOrd="0" presId="urn:microsoft.com/office/officeart/2005/8/layout/venn2"/>
    <dgm:cxn modelId="{82F894E2-A1CE-481F-9DB6-D526D24A2938}" type="presOf" srcId="{18D24AE3-8757-49F8-A4C9-31F05B4C6A74}" destId="{43E40CDE-CB8B-4EEF-8BCB-5665830397DE}" srcOrd="0" destOrd="0" presId="urn:microsoft.com/office/officeart/2005/8/layout/venn2"/>
    <dgm:cxn modelId="{5263596A-E032-417A-B190-08A79C53FFD2}" type="presOf" srcId="{18D24AE3-8757-49F8-A4C9-31F05B4C6A74}" destId="{D699A436-AFDD-4E1A-A411-8BB894F7658B}" srcOrd="1" destOrd="0" presId="urn:microsoft.com/office/officeart/2005/8/layout/venn2"/>
    <dgm:cxn modelId="{BD223E0C-5FB0-4315-AE9F-04EF89D0163D}" type="presOf" srcId="{6C411F56-B1E9-4050-A6DB-496DFACBF820}" destId="{ECB236E5-54C6-4F28-8EF8-A72A69582CD0}" srcOrd="0" destOrd="0" presId="urn:microsoft.com/office/officeart/2005/8/layout/venn2"/>
    <dgm:cxn modelId="{D10FE067-C2B1-4402-8988-A46BF4061781}" srcId="{6C411F56-B1E9-4050-A6DB-496DFACBF820}" destId="{7A34AC67-D6EC-4464-9507-AD3C3AF99FCC}" srcOrd="0" destOrd="0" parTransId="{4722BDA4-55DD-4D5A-BBFD-5212B6BA58E7}" sibTransId="{4F6A5A73-C879-4495-A230-DCB26211AF4F}"/>
    <dgm:cxn modelId="{83B122AC-2A1C-4BD3-BC88-66AC12E8FDD6}" type="presOf" srcId="{7A34AC67-D6EC-4464-9507-AD3C3AF99FCC}" destId="{EBFDE533-D67A-48FF-881F-8908D8AFBC57}" srcOrd="0" destOrd="0" presId="urn:microsoft.com/office/officeart/2005/8/layout/venn2"/>
    <dgm:cxn modelId="{3B28A2E5-6332-4614-A011-EF1974D5AEF6}" type="presOf" srcId="{7A34AC67-D6EC-4464-9507-AD3C3AF99FCC}" destId="{420B4C48-CFB0-45E3-8D4D-B4B5E40582E4}" srcOrd="1" destOrd="0" presId="urn:microsoft.com/office/officeart/2005/8/layout/venn2"/>
    <dgm:cxn modelId="{31D86972-A53A-4365-B747-4739FF02BBDD}" srcId="{6C411F56-B1E9-4050-A6DB-496DFACBF820}" destId="{18D24AE3-8757-49F8-A4C9-31F05B4C6A74}" srcOrd="2" destOrd="0" parTransId="{1ABAF2F7-47F5-4F86-B96B-A01CA5D2DF0C}" sibTransId="{114BEE1D-0FF7-4784-A272-303EE03C5528}"/>
    <dgm:cxn modelId="{08A8FF70-364F-4FC1-AB1F-6327849D6B1A}" type="presOf" srcId="{8BE83F2B-53BD-401A-838A-4D81F1EC4197}" destId="{08D281DF-3623-441F-9364-940DFDBB543D}" srcOrd="0" destOrd="0" presId="urn:microsoft.com/office/officeart/2005/8/layout/venn2"/>
    <dgm:cxn modelId="{6F443EB4-A305-44ED-AA6E-0297059B4740}" srcId="{6C411F56-B1E9-4050-A6DB-496DFACBF820}" destId="{8BE83F2B-53BD-401A-838A-4D81F1EC4197}" srcOrd="1" destOrd="0" parTransId="{AB2B2F2B-793E-4605-B1A6-BB2663A94436}" sibTransId="{2DC61359-28E3-4382-8C06-F5A54EE44216}"/>
    <dgm:cxn modelId="{03884C24-EA1E-48E1-97AB-38528952ACF3}" type="presParOf" srcId="{ECB236E5-54C6-4F28-8EF8-A72A69582CD0}" destId="{CB601ED1-F7A2-46E6-9405-010B2E387016}" srcOrd="0" destOrd="0" presId="urn:microsoft.com/office/officeart/2005/8/layout/venn2"/>
    <dgm:cxn modelId="{5786116F-2426-47A0-AE3C-AF44BC2D583C}" type="presParOf" srcId="{CB601ED1-F7A2-46E6-9405-010B2E387016}" destId="{EBFDE533-D67A-48FF-881F-8908D8AFBC57}" srcOrd="0" destOrd="0" presId="urn:microsoft.com/office/officeart/2005/8/layout/venn2"/>
    <dgm:cxn modelId="{60728ED8-BC32-4AE0-84DE-E78C9CD8A8D6}" type="presParOf" srcId="{CB601ED1-F7A2-46E6-9405-010B2E387016}" destId="{420B4C48-CFB0-45E3-8D4D-B4B5E40582E4}" srcOrd="1" destOrd="0" presId="urn:microsoft.com/office/officeart/2005/8/layout/venn2"/>
    <dgm:cxn modelId="{876A961F-1661-4714-94B2-68A97AA93659}" type="presParOf" srcId="{ECB236E5-54C6-4F28-8EF8-A72A69582CD0}" destId="{CAD24542-03A9-4BCC-8BE0-16A8F332C0ED}" srcOrd="1" destOrd="0" presId="urn:microsoft.com/office/officeart/2005/8/layout/venn2"/>
    <dgm:cxn modelId="{E49059E2-C764-4CE2-89E0-DFBE2E8CD856}" type="presParOf" srcId="{CAD24542-03A9-4BCC-8BE0-16A8F332C0ED}" destId="{08D281DF-3623-441F-9364-940DFDBB543D}" srcOrd="0" destOrd="0" presId="urn:microsoft.com/office/officeart/2005/8/layout/venn2"/>
    <dgm:cxn modelId="{DD33FA35-F29E-4EA8-B718-B0DE3869BD78}" type="presParOf" srcId="{CAD24542-03A9-4BCC-8BE0-16A8F332C0ED}" destId="{BCADE44B-3F5D-4C2C-88E8-97A74FC8491C}" srcOrd="1" destOrd="0" presId="urn:microsoft.com/office/officeart/2005/8/layout/venn2"/>
    <dgm:cxn modelId="{F2D5A11B-26C1-4EA7-A01A-C95F34796039}" type="presParOf" srcId="{ECB236E5-54C6-4F28-8EF8-A72A69582CD0}" destId="{DBA845DC-1986-4E41-8D71-0D7679DC72F1}" srcOrd="2" destOrd="0" presId="urn:microsoft.com/office/officeart/2005/8/layout/venn2"/>
    <dgm:cxn modelId="{310F325A-D95D-4AD9-9FC5-3E6E5BFDAE9B}" type="presParOf" srcId="{DBA845DC-1986-4E41-8D71-0D7679DC72F1}" destId="{43E40CDE-CB8B-4EEF-8BCB-5665830397DE}" srcOrd="0" destOrd="0" presId="urn:microsoft.com/office/officeart/2005/8/layout/venn2"/>
    <dgm:cxn modelId="{3584D149-68B9-4C5E-BC33-AC5AB44E14DD}" type="presParOf" srcId="{DBA845DC-1986-4E41-8D71-0D7679DC72F1}" destId="{D699A436-AFDD-4E1A-A411-8BB894F7658B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FDE533-D67A-48FF-881F-8908D8AFBC57}">
      <dsp:nvSpPr>
        <dsp:cNvPr id="0" name=""/>
        <dsp:cNvSpPr/>
      </dsp:nvSpPr>
      <dsp:spPr>
        <a:xfrm>
          <a:off x="988454" y="0"/>
          <a:ext cx="3783731" cy="378373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1" kern="1200"/>
            <a:t>Public</a:t>
          </a:r>
          <a:endParaRPr lang="ko-KR" altLang="en-US" sz="1800" b="1" kern="1200"/>
        </a:p>
      </dsp:txBody>
      <dsp:txXfrm>
        <a:off x="2219113" y="189186"/>
        <a:ext cx="1322413" cy="567559"/>
      </dsp:txXfrm>
    </dsp:sp>
    <dsp:sp modelId="{08D281DF-3623-441F-9364-940DFDBB543D}">
      <dsp:nvSpPr>
        <dsp:cNvPr id="0" name=""/>
        <dsp:cNvSpPr/>
      </dsp:nvSpPr>
      <dsp:spPr>
        <a:xfrm>
          <a:off x="1461420" y="945932"/>
          <a:ext cx="2837798" cy="28377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1" kern="1200"/>
            <a:t>Protected</a:t>
          </a:r>
          <a:endParaRPr lang="ko-KR" altLang="en-US" sz="1800" b="1" kern="1200"/>
        </a:p>
      </dsp:txBody>
      <dsp:txXfrm>
        <a:off x="2219113" y="1123295"/>
        <a:ext cx="1322413" cy="532087"/>
      </dsp:txXfrm>
    </dsp:sp>
    <dsp:sp modelId="{43E40CDE-CB8B-4EEF-8BCB-5665830397DE}">
      <dsp:nvSpPr>
        <dsp:cNvPr id="0" name=""/>
        <dsp:cNvSpPr/>
      </dsp:nvSpPr>
      <dsp:spPr>
        <a:xfrm>
          <a:off x="1934387" y="1891865"/>
          <a:ext cx="1891865" cy="189186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1" kern="1200" dirty="0"/>
            <a:t>Private</a:t>
          </a:r>
          <a:endParaRPr lang="ko-KR" altLang="en-US" sz="1800" b="1" kern="1200" dirty="0"/>
        </a:p>
      </dsp:txBody>
      <dsp:txXfrm>
        <a:off x="2211444" y="2364831"/>
        <a:ext cx="1337750" cy="945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874-7BFA-4E6E-BE86-60B30CE4A117}" type="datetimeFigureOut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2016-08-31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3E06-38D3-47EF-AE2A-C4CBEBCA5DE5}" type="slidenum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‹#›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94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B139F31C-191E-4666-8F67-D37AE9CD3BE8}" type="datetimeFigureOut">
              <a:rPr lang="ko-KR" altLang="en-US" smtClean="0"/>
              <a:pPr/>
              <a:t>2016-08-31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5BF70FA3-CB09-4D27-BFC7-0900EDFEFC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1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5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197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4741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831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63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189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056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08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4238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616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6985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745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7132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385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689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298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8226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2606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9670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3214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2873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841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7182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830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3046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9974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259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03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8761-C7AC-4ADE-A25A-DF9FD0E8ABA4}" type="datetime1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52C0-5A51-423A-BFFF-6C1A9D868433}" type="datetime1">
              <a:rPr lang="ko-KR" altLang="en-US" smtClean="0"/>
              <a:t>2016-08-31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331C-83AF-4C12-89EF-450C82CA4F44}" type="datetime1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5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0BFF-9A58-4775-9339-ECAA48BEE7D6}" type="datetime1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2CC-0499-453B-AC2D-F2522AE35D71}" type="datetime1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6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C783-6BB1-4F53-86B6-83B4A1FE8FAC}" type="datetime1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3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5D2D-D4AC-40BE-B792-71C1E46F7B81}" type="datetime1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E20A-35E3-4F0D-A3F8-3149666FD494}" type="datetime1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77B8-D269-40AA-BD66-0C9CE2A90C3C}" type="datetime1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1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F70B-4ABC-4A1C-A2F3-ACDD254842BB}" type="datetime1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847-BFB1-4862-BC1F-4B42CE510BE5}" type="datetime1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2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21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31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7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25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99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4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3DCF4BCA-F02B-4388-9CC9-9E88F19F949E}" type="datetime1">
              <a:rPr lang="ko-KR" altLang="en-US" smtClean="0"/>
              <a:pPr/>
              <a:t>2016-08-31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6B102114-8B7A-4408-B8CB-F3C50019E6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165304"/>
            <a:ext cx="2051720" cy="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E54-1C83-4620-B5DC-1C9270F95D6E}" type="datetimeFigureOut">
              <a:rPr lang="ko-KR" altLang="en-US" smtClean="0"/>
              <a:t>2016-08-31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478" y="1844824"/>
            <a:ext cx="8892480" cy="1985392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Object-oriented Programming</a:t>
            </a:r>
            <a:endParaRPr lang="ko-KR" altLang="en-US" sz="4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1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4443742" cy="1143000"/>
          </a:xfrm>
        </p:spPr>
        <p:txBody>
          <a:bodyPr/>
          <a:lstStyle/>
          <a:p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조교 소개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63277"/>
            <a:ext cx="8867328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이름 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채한주</a:t>
            </a:r>
            <a:endParaRPr lang="en-US" altLang="ko-KR" sz="26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연구실 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Biocomputing Lab. (</a:t>
            </a: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하이테크 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1307</a:t>
            </a: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호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상담 시간 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화요일 오전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10</a:t>
            </a: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~</a:t>
            </a: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오후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</a:t>
            </a: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 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사전 연락 필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email : sky93kr2004@naver.com</a:t>
            </a: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출제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: learn.inha.ac.kr</a:t>
            </a: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 프로그램 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Visual Studio 2015</a:t>
            </a: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endParaRPr lang="en-US" altLang="ko-KR" sz="26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467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" name="Picture 2" descr="C:\Users\ds\Desktop\드림스파크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02" y="908720"/>
            <a:ext cx="9025302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8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5" name="Picture 2" descr="C:\Users\ds\Desktop\드림스파크\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56792"/>
            <a:ext cx="6348812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타원 2"/>
          <p:cNvSpPr/>
          <p:nvPr/>
        </p:nvSpPr>
        <p:spPr>
          <a:xfrm>
            <a:off x="539552" y="3573016"/>
            <a:ext cx="2520280" cy="122413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697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5" name="Picture 2" descr="C:\Users\ds\Desktop\드림스파크\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" y="1700808"/>
            <a:ext cx="9250179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타원 6"/>
          <p:cNvSpPr/>
          <p:nvPr/>
        </p:nvSpPr>
        <p:spPr>
          <a:xfrm>
            <a:off x="323528" y="4437112"/>
            <a:ext cx="1476392" cy="6605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617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" name="Picture 2" descr="C:\Users\ds\Desktop\드림스파크\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37" y="1603226"/>
            <a:ext cx="8979867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타원 6"/>
          <p:cNvSpPr/>
          <p:nvPr/>
        </p:nvSpPr>
        <p:spPr>
          <a:xfrm>
            <a:off x="7620000" y="1556792"/>
            <a:ext cx="1476392" cy="6605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8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5" name="Picture 2" descr="C:\Users\ds\Desktop\드림스파크\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082534"/>
            <a:ext cx="8156896" cy="527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335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Picture 3" descr="C:\Users\ds\Desktop\드림스파크\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153" y="1052736"/>
            <a:ext cx="4608512" cy="560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3182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Picture 2" descr="C:\Users\ds\Desktop\드림스파크\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137" y="980728"/>
            <a:ext cx="6354763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258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87624"/>
            <a:ext cx="7725280" cy="493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01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12776"/>
            <a:ext cx="8852148" cy="4104456"/>
          </a:xfrm>
          <a:prstGeom prst="rect">
            <a:avLst/>
          </a:prstGeom>
        </p:spPr>
      </p:pic>
      <p:sp>
        <p:nvSpPr>
          <p:cNvPr id="8" name="타원 7"/>
          <p:cNvSpPr/>
          <p:nvPr/>
        </p:nvSpPr>
        <p:spPr>
          <a:xfrm>
            <a:off x="1763688" y="2060848"/>
            <a:ext cx="792088" cy="5040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77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340768"/>
            <a:ext cx="8272390" cy="417646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691680" y="3212976"/>
            <a:ext cx="6120680" cy="12961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294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156194"/>
            <a:ext cx="687705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55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231782" y="44624"/>
            <a:ext cx="5595870" cy="1143000"/>
          </a:xfrm>
        </p:spPr>
        <p:txBody>
          <a:bodyPr/>
          <a:lstStyle/>
          <a:p>
            <a:r>
              <a:rPr lang="en-US" altLang="ko-KR" b="1" dirty="0">
                <a:solidFill>
                  <a:srgbClr val="C00000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VS Download</a:t>
            </a:r>
            <a:endParaRPr lang="ko-KR" altLang="en-US" b="1" dirty="0">
              <a:solidFill>
                <a:srgbClr val="C00000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Picture 2" descr="C:\Users\ds\Desktop\드림스파크\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87624"/>
            <a:ext cx="6564313" cy="482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793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1331640" y="4149080"/>
            <a:ext cx="7704856" cy="2439144"/>
          </a:xfrm>
        </p:spPr>
        <p:txBody>
          <a:bodyPr>
            <a:noAutofit/>
          </a:bodyPr>
          <a:lstStyle/>
          <a:p>
            <a:r>
              <a:rPr lang="en-US" altLang="ko-KR" sz="8000" dirty="0">
                <a:solidFill>
                  <a:srgbClr val="C00000"/>
                </a:solidFill>
                <a:effectLst>
                  <a:outerShdw blurRad="50800" dist="76200" dir="4200000" sx="102000" sy="102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OOP1 review</a:t>
            </a:r>
            <a:endParaRPr lang="ko-KR" altLang="en-US" sz="8000" b="1" dirty="0">
              <a:solidFill>
                <a:srgbClr val="C00000"/>
              </a:solidFill>
              <a:effectLst>
                <a:outerShdw blurRad="50800" dist="76200" dir="4200000" sx="102000" sy="102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745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What is OOP?</a:t>
            </a:r>
            <a:endParaRPr lang="ko-KR" altLang="en-US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95536" y="1268760"/>
            <a:ext cx="8867328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Object Oriented Programming</a:t>
            </a:r>
            <a:b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한번 만들어둔 객체는 </a:t>
            </a:r>
            <a:r>
              <a:rPr lang="ko-KR" altLang="en-US" sz="20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재사용성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높다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b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유지보수와 편의성</a:t>
            </a:r>
            <a: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신뢰성에 중점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552" y="4149080"/>
            <a:ext cx="8051334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i="1" dirty="0"/>
              <a:t>“</a:t>
            </a:r>
            <a:r>
              <a:rPr lang="ko-KR" altLang="en-US" sz="16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절차지향 프로그래밍</a:t>
            </a:r>
            <a:r>
              <a:rPr lang="ko-KR" altLang="en-US" sz="1600" b="1" i="1" dirty="0"/>
              <a:t>은 프로그램의 </a:t>
            </a:r>
            <a:r>
              <a:rPr lang="ko-KR" altLang="en-US" sz="1600" b="1" i="1" dirty="0">
                <a:solidFill>
                  <a:srgbClr val="FF0000"/>
                </a:solidFill>
              </a:rPr>
              <a:t>순서</a:t>
            </a:r>
            <a:r>
              <a:rPr lang="ko-KR" altLang="en-US" sz="1600" b="1" i="1" dirty="0"/>
              <a:t>와 </a:t>
            </a:r>
            <a:r>
              <a:rPr lang="ko-KR" altLang="en-US" sz="1600" b="1" i="1" dirty="0">
                <a:solidFill>
                  <a:srgbClr val="FF0000"/>
                </a:solidFill>
              </a:rPr>
              <a:t>흐름</a:t>
            </a:r>
            <a:r>
              <a:rPr lang="ko-KR" altLang="en-US" sz="1600" b="1" i="1" dirty="0"/>
              <a:t>을 먼저 세우고 필요한 자료구조와</a:t>
            </a:r>
            <a:endParaRPr lang="en-US" altLang="ko-KR" sz="1600" b="1" i="1" dirty="0"/>
          </a:p>
          <a:p>
            <a:pPr algn="ctr">
              <a:lnSpc>
                <a:spcPct val="150000"/>
              </a:lnSpc>
            </a:pPr>
            <a:r>
              <a:rPr lang="ko-KR" altLang="en-US" sz="1600" b="1" i="1" dirty="0"/>
              <a:t>함수들을 설계하는 방식이고</a:t>
            </a:r>
            <a:r>
              <a:rPr lang="en-US" altLang="ko-KR" sz="1600" b="1" i="1" dirty="0"/>
              <a:t>, </a:t>
            </a:r>
            <a:r>
              <a:rPr lang="ko-KR" altLang="en-US" sz="16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객체지향 프로그래밍</a:t>
            </a:r>
            <a:r>
              <a:rPr lang="ko-KR" altLang="en-US" sz="1600" b="1" i="1" dirty="0"/>
              <a:t>은 반대로 </a:t>
            </a:r>
            <a:r>
              <a:rPr lang="ko-KR" altLang="en-US" sz="1600" b="1" i="1" dirty="0">
                <a:solidFill>
                  <a:srgbClr val="FF0000"/>
                </a:solidFill>
              </a:rPr>
              <a:t>자료구조</a:t>
            </a:r>
            <a:r>
              <a:rPr lang="ko-KR" altLang="en-US" sz="1600" b="1" i="1" dirty="0"/>
              <a:t>와 이를 중심으로 한 </a:t>
            </a:r>
            <a:r>
              <a:rPr lang="ko-KR" altLang="en-US" sz="1600" b="1" i="1" dirty="0">
                <a:solidFill>
                  <a:srgbClr val="FF0000"/>
                </a:solidFill>
              </a:rPr>
              <a:t>모듈</a:t>
            </a:r>
            <a:r>
              <a:rPr lang="ko-KR" altLang="en-US" sz="1600" b="1" i="1" dirty="0"/>
              <a:t>들을 먼저 설계한 다음에 이들의 실행순서와 흐름을 짜는 방식이다</a:t>
            </a:r>
            <a:r>
              <a:rPr lang="en-US" altLang="ko-KR" sz="1600" b="1" i="1" dirty="0"/>
              <a:t>.＂</a:t>
            </a:r>
          </a:p>
          <a:p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35220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OOP</a:t>
            </a:r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특징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395536" y="1268760"/>
            <a:ext cx="8867328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정보 은닉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; Information Hiding</a:t>
            </a:r>
            <a:b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추상화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; Abstraction</a:t>
            </a:r>
            <a:b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캡슐화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; Encapsulation</a:t>
            </a:r>
            <a:b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	; Inheritance</a:t>
            </a:r>
            <a:b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endParaRPr lang="en-US" altLang="ko-KR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0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다형성</a:t>
            </a:r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	; Polymorphism</a:t>
            </a:r>
          </a:p>
        </p:txBody>
      </p:sp>
    </p:spTree>
    <p:extLst>
      <p:ext uri="{BB962C8B-B14F-4D97-AF65-F5344CB8AC3E}">
        <p14:creationId xmlns:p14="http://schemas.microsoft.com/office/powerpoint/2010/main" val="540218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Class?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2708920"/>
            <a:ext cx="4608512" cy="2922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69622" y="2052717"/>
            <a:ext cx="723680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i="1" dirty="0"/>
              <a:t>클래스 </a:t>
            </a:r>
            <a:r>
              <a:rPr lang="en-US" altLang="ko-KR" sz="2800" b="1" i="1" dirty="0"/>
              <a:t>= Variables(</a:t>
            </a:r>
            <a:r>
              <a:rPr lang="ko-KR" altLang="en-US" sz="2800" b="1" i="1" dirty="0"/>
              <a:t>상태</a:t>
            </a:r>
            <a:r>
              <a:rPr lang="en-US" altLang="ko-KR" sz="2800" b="1" i="1" dirty="0"/>
              <a:t>) + Methods(</a:t>
            </a:r>
            <a:r>
              <a:rPr lang="ko-KR" altLang="en-US" sz="2800" b="1" i="1" dirty="0"/>
              <a:t>행동</a:t>
            </a:r>
            <a:r>
              <a:rPr lang="en-US" altLang="ko-KR" sz="2800" b="1" i="1" dirty="0"/>
              <a:t>)</a:t>
            </a:r>
            <a:endParaRPr lang="en-US" altLang="ko-KR" sz="2800" i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3578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Class?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19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2091"/>
              </p:ext>
            </p:extLst>
          </p:nvPr>
        </p:nvGraphicFramePr>
        <p:xfrm>
          <a:off x="683568" y="1700808"/>
          <a:ext cx="7344816" cy="4104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55600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4400" b="1" dirty="0">
                          <a:solidFill>
                            <a:schemeClr val="bg1"/>
                          </a:solidFill>
                          <a:latin typeface="+mn-lt"/>
                        </a:rPr>
                        <a:t>사람</a:t>
                      </a:r>
                    </a:p>
                  </a:txBody>
                  <a:tcPr anchor="ctr"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4428"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3600" b="1" dirty="0">
                          <a:solidFill>
                            <a:schemeClr val="bg1"/>
                          </a:solidFill>
                          <a:latin typeface="+mn-lt"/>
                        </a:rPr>
                        <a:t>Variable</a:t>
                      </a:r>
                      <a:endParaRPr lang="ko-KR" altLang="en-US" sz="3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3600" b="1" dirty="0">
                          <a:solidFill>
                            <a:schemeClr val="bg1"/>
                          </a:solidFill>
                          <a:latin typeface="+mn-lt"/>
                        </a:rPr>
                        <a:t>Method</a:t>
                      </a:r>
                      <a:endParaRPr lang="ko-KR" altLang="en-US" sz="3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44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이름</a:t>
                      </a:r>
                    </a:p>
                  </a:txBody>
                  <a:tcPr anchor="ctr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나이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먹는다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말한다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걷는다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bg1"/>
                          </a:solidFill>
                          <a:latin typeface="+mn-lt"/>
                        </a:rPr>
                        <a:t>생각한다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444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클래스와 객체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" y="1567333"/>
            <a:ext cx="886732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클래스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객체를 정의해 놓은 것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예로 붕어빵 틀을 들을 수 있음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객체</a:t>
            </a:r>
            <a:endParaRPr lang="en-US" altLang="ko-KR" sz="26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클래스를 통해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생성되어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실제로 존재하는 것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붕어빵 틀에서 뽑아낸 붕어빵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816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클래스 선언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구성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43778" y="1340768"/>
            <a:ext cx="741682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</a:rPr>
              <a:t>class </a:t>
            </a:r>
            <a:r>
              <a:rPr lang="ko-KR" altLang="en-US" sz="2000" dirty="0" err="1">
                <a:solidFill>
                  <a:schemeClr val="accent5"/>
                </a:solidFill>
              </a:rPr>
              <a:t>클래스명</a:t>
            </a:r>
            <a:endParaRPr lang="en-US" altLang="ko-KR" sz="2000" dirty="0">
              <a:solidFill>
                <a:schemeClr val="accent5"/>
              </a:solidFill>
            </a:endParaRPr>
          </a:p>
          <a:p>
            <a:r>
              <a:rPr lang="en-US" altLang="ko-KR" sz="2000" dirty="0"/>
              <a:t>{</a:t>
            </a:r>
          </a:p>
          <a:p>
            <a:r>
              <a:rPr lang="en-US" altLang="ko-KR" sz="2000" dirty="0"/>
              <a:t>	</a:t>
            </a:r>
            <a:r>
              <a:rPr lang="en-US" altLang="ko-KR" sz="2000" dirty="0">
                <a:solidFill>
                  <a:srgbClr val="92D050"/>
                </a:solidFill>
              </a:rPr>
              <a:t>// </a:t>
            </a:r>
            <a:r>
              <a:rPr lang="ko-KR" altLang="en-US" sz="2000" dirty="0">
                <a:solidFill>
                  <a:srgbClr val="92D050"/>
                </a:solidFill>
              </a:rPr>
              <a:t>멤버 변수</a:t>
            </a:r>
            <a:r>
              <a:rPr lang="en-US" altLang="ko-KR" sz="2000" dirty="0">
                <a:solidFill>
                  <a:srgbClr val="92D050"/>
                </a:solidFill>
              </a:rPr>
              <a:t>(</a:t>
            </a:r>
            <a:r>
              <a:rPr lang="ko-KR" altLang="en-US" sz="2000" dirty="0">
                <a:solidFill>
                  <a:srgbClr val="92D050"/>
                </a:solidFill>
              </a:rPr>
              <a:t>상태</a:t>
            </a:r>
            <a:r>
              <a:rPr lang="en-US" altLang="ko-KR" sz="2000" dirty="0">
                <a:solidFill>
                  <a:srgbClr val="92D050"/>
                </a:solidFill>
              </a:rPr>
              <a:t>), </a:t>
            </a:r>
            <a:r>
              <a:rPr lang="ko-KR" altLang="en-US" sz="2000" dirty="0">
                <a:solidFill>
                  <a:srgbClr val="92D050"/>
                </a:solidFill>
              </a:rPr>
              <a:t>멤버 함수</a:t>
            </a:r>
            <a:r>
              <a:rPr lang="en-US" altLang="ko-KR" sz="2000" dirty="0">
                <a:solidFill>
                  <a:srgbClr val="92D050"/>
                </a:solidFill>
              </a:rPr>
              <a:t>(</a:t>
            </a:r>
            <a:r>
              <a:rPr lang="ko-KR" altLang="en-US" sz="2000" dirty="0">
                <a:solidFill>
                  <a:srgbClr val="92D050"/>
                </a:solidFill>
              </a:rPr>
              <a:t>행동</a:t>
            </a:r>
            <a:r>
              <a:rPr lang="en-US" altLang="ko-KR" sz="2000" dirty="0">
                <a:solidFill>
                  <a:srgbClr val="92D050"/>
                </a:solidFill>
              </a:rPr>
              <a:t>)…</a:t>
            </a:r>
          </a:p>
          <a:p>
            <a:r>
              <a:rPr lang="en-US" altLang="ko-KR" sz="2000" dirty="0"/>
              <a:t>};</a:t>
            </a:r>
            <a:endParaRPr lang="ko-KR" alt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43778" y="2780928"/>
            <a:ext cx="7416824" cy="3170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</a:rPr>
              <a:t>class </a:t>
            </a:r>
            <a:r>
              <a:rPr lang="en-US" altLang="ko-KR" sz="2000" dirty="0">
                <a:solidFill>
                  <a:schemeClr val="accent5"/>
                </a:solidFill>
              </a:rPr>
              <a:t>Person</a:t>
            </a:r>
          </a:p>
          <a:p>
            <a:r>
              <a:rPr lang="en-US" altLang="ko-KR" sz="2000" dirty="0"/>
              <a:t>{</a:t>
            </a:r>
          </a:p>
          <a:p>
            <a:r>
              <a:rPr lang="en-US" altLang="ko-KR" sz="2000" dirty="0">
                <a:solidFill>
                  <a:srgbClr val="0000CC"/>
                </a:solidFill>
              </a:rPr>
              <a:t>public:</a:t>
            </a:r>
          </a:p>
          <a:p>
            <a:r>
              <a:rPr lang="en-US" altLang="ko-KR" sz="2000" dirty="0">
                <a:solidFill>
                  <a:schemeClr val="accent3">
                    <a:lumMod val="75000"/>
                  </a:schemeClr>
                </a:solidFill>
              </a:rPr>
              <a:t>	</a:t>
            </a:r>
            <a:r>
              <a:rPr lang="en-US" altLang="ko-KR" sz="2000" dirty="0">
                <a:solidFill>
                  <a:srgbClr val="0000FF"/>
                </a:solidFill>
              </a:rPr>
              <a:t>void</a:t>
            </a:r>
            <a:r>
              <a:rPr lang="en-US" altLang="ko-KR" sz="2000" dirty="0"/>
              <a:t> Eat(</a:t>
            </a:r>
            <a:r>
              <a:rPr lang="en-US" altLang="ko-KR" sz="2000" dirty="0">
                <a:solidFill>
                  <a:srgbClr val="0000FF"/>
                </a:solidFill>
              </a:rPr>
              <a:t>char</a:t>
            </a:r>
            <a:r>
              <a:rPr lang="en-US" altLang="ko-KR" sz="2000" dirty="0"/>
              <a:t>* food);</a:t>
            </a:r>
          </a:p>
          <a:p>
            <a:r>
              <a:rPr lang="en-US" altLang="ko-KR" sz="2000" dirty="0"/>
              <a:t>	</a:t>
            </a:r>
            <a:r>
              <a:rPr lang="en-US" altLang="ko-KR" sz="2000" dirty="0" err="1">
                <a:solidFill>
                  <a:srgbClr val="0000FF"/>
                </a:solidFill>
              </a:rPr>
              <a:t>int</a:t>
            </a:r>
            <a:r>
              <a:rPr lang="en-US" altLang="ko-KR" sz="2000" dirty="0"/>
              <a:t> Walk(</a:t>
            </a:r>
            <a:r>
              <a:rPr lang="en-US" altLang="ko-KR" sz="2000" dirty="0" err="1">
                <a:solidFill>
                  <a:srgbClr val="0000FF"/>
                </a:solidFill>
              </a:rPr>
              <a:t>int</a:t>
            </a:r>
            <a:r>
              <a:rPr lang="en-US" altLang="ko-KR" sz="2000" dirty="0"/>
              <a:t> time, </a:t>
            </a:r>
            <a:r>
              <a:rPr lang="en-US" altLang="ko-KR" sz="2000" dirty="0" err="1">
                <a:solidFill>
                  <a:srgbClr val="0000FF"/>
                </a:solidFill>
              </a:rPr>
              <a:t>int</a:t>
            </a:r>
            <a:r>
              <a:rPr lang="en-US" altLang="ko-KR" sz="2000" dirty="0">
                <a:solidFill>
                  <a:srgbClr val="0000FF"/>
                </a:solidFill>
              </a:rPr>
              <a:t> </a:t>
            </a:r>
            <a:r>
              <a:rPr lang="en-US" altLang="ko-KR" sz="2000" dirty="0"/>
              <a:t>speed);</a:t>
            </a:r>
          </a:p>
          <a:p>
            <a:r>
              <a:rPr lang="en-US" altLang="ko-KR" sz="2000" dirty="0"/>
              <a:t>	</a:t>
            </a:r>
            <a:r>
              <a:rPr lang="en-US" altLang="ko-KR" sz="2000" dirty="0">
                <a:solidFill>
                  <a:srgbClr val="0000FF"/>
                </a:solidFill>
              </a:rPr>
              <a:t>void</a:t>
            </a:r>
            <a:r>
              <a:rPr lang="en-US" altLang="ko-KR" sz="2000" dirty="0"/>
              <a:t> Think();</a:t>
            </a:r>
          </a:p>
          <a:p>
            <a:r>
              <a:rPr lang="en-US" altLang="ko-KR" sz="2000" dirty="0">
                <a:solidFill>
                  <a:srgbClr val="0000CC"/>
                </a:solidFill>
              </a:rPr>
              <a:t>private:</a:t>
            </a:r>
          </a:p>
          <a:p>
            <a:r>
              <a:rPr lang="en-US" altLang="ko-KR" sz="2000" dirty="0">
                <a:solidFill>
                  <a:schemeClr val="accent3">
                    <a:lumMod val="75000"/>
                  </a:schemeClr>
                </a:solidFill>
              </a:rPr>
              <a:t>	</a:t>
            </a:r>
            <a:r>
              <a:rPr lang="en-US" altLang="ko-KR" sz="2000" dirty="0" err="1">
                <a:solidFill>
                  <a:srgbClr val="0000FF"/>
                </a:solidFill>
              </a:rPr>
              <a:t>int</a:t>
            </a:r>
            <a:r>
              <a:rPr lang="en-US" altLang="ko-KR" sz="2000" dirty="0"/>
              <a:t> age;</a:t>
            </a:r>
          </a:p>
          <a:p>
            <a:r>
              <a:rPr lang="en-US" altLang="ko-KR" sz="2000" dirty="0"/>
              <a:t>	</a:t>
            </a:r>
            <a:r>
              <a:rPr lang="en-US" altLang="ko-KR" sz="2000" dirty="0">
                <a:solidFill>
                  <a:srgbClr val="0000FF"/>
                </a:solidFill>
              </a:rPr>
              <a:t>char</a:t>
            </a:r>
            <a:r>
              <a:rPr lang="en-US" altLang="ko-KR" sz="2000" dirty="0"/>
              <a:t>* name;</a:t>
            </a:r>
          </a:p>
          <a:p>
            <a:r>
              <a:rPr lang="en-US" altLang="ko-KR" sz="2000" dirty="0"/>
              <a:t>};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10500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멤버 접근 명시자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57200" y="1567333"/>
            <a:ext cx="886732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en-US" altLang="ko-KR" sz="26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private</a:t>
            </a:r>
            <a:r>
              <a:rPr lang="en-US" altLang="ko-KR" sz="26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외부에서 접근 불가능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en-US" altLang="ko-KR" sz="26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public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외부로 공개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en-US" altLang="ko-KR" sz="26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protected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외부에서 접근 불가능</a:t>
            </a:r>
            <a:r>
              <a:rPr lang="en-US" altLang="ko-KR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22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상속된 파생 클래스는 접근 가능</a:t>
            </a: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2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8" name="다이어그램 7"/>
          <p:cNvGraphicFramePr/>
          <p:nvPr>
            <p:extLst/>
          </p:nvPr>
        </p:nvGraphicFramePr>
        <p:xfrm>
          <a:off x="3923928" y="941413"/>
          <a:ext cx="5760640" cy="3783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6276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6264696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멤버 접근 </a:t>
            </a:r>
            <a:r>
              <a:rPr lang="ko-KR" altLang="en-US" sz="40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명시자 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 </a:t>
            </a:r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52736"/>
            <a:ext cx="5934075" cy="5067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139" y="1844824"/>
            <a:ext cx="2133600" cy="2124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7192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정보 은닉과 캡슐화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57200" y="1567333"/>
            <a:ext cx="886732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정보 은닉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외부인이 알아서는 </a:t>
            </a:r>
            <a:r>
              <a:rPr lang="ko-KR" altLang="en-US" sz="20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안되는</a:t>
            </a: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정보를 감춤</a:t>
            </a:r>
            <a:endParaRPr lang="en-US" altLang="ko-KR" sz="24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사용자가 알 필요가 없는 정보를 감춤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캡슐화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특성이 비슷한 데이터와 기능들을 묶음</a:t>
            </a: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552" y="4869160"/>
            <a:ext cx="805133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i="1" dirty="0"/>
              <a:t>“</a:t>
            </a:r>
            <a:r>
              <a:rPr lang="ko-KR" altLang="en-US" sz="2000" b="1" i="1" dirty="0"/>
              <a:t>캡슐화는 하나의 </a:t>
            </a:r>
            <a:r>
              <a:rPr lang="ko-KR" altLang="en-US" sz="2000" b="1" i="1" dirty="0">
                <a:solidFill>
                  <a:srgbClr val="0070C0"/>
                </a:solidFill>
              </a:rPr>
              <a:t>수단</a:t>
            </a:r>
            <a:r>
              <a:rPr lang="ko-KR" altLang="en-US" sz="2000" b="1" i="1" dirty="0"/>
              <a:t>이고</a:t>
            </a:r>
            <a:r>
              <a:rPr lang="en-US" altLang="ko-KR" sz="2000" b="1" i="1" dirty="0"/>
              <a:t>, </a:t>
            </a:r>
            <a:r>
              <a:rPr lang="ko-KR" altLang="en-US" sz="2000" b="1" i="1" dirty="0"/>
              <a:t>그 수단의 목적은 바로 </a:t>
            </a:r>
            <a:r>
              <a:rPr lang="ko-KR" altLang="en-US" sz="2000" b="1" i="1" dirty="0">
                <a:solidFill>
                  <a:srgbClr val="FF0000"/>
                </a:solidFill>
              </a:rPr>
              <a:t>정보은닉</a:t>
            </a:r>
            <a:r>
              <a:rPr lang="ko-KR" altLang="en-US" sz="2000" b="1" i="1" dirty="0"/>
              <a:t>이다</a:t>
            </a:r>
            <a:r>
              <a:rPr lang="en-US" altLang="ko-KR" sz="2000" b="1" i="1" dirty="0"/>
              <a:t>.＂</a:t>
            </a:r>
          </a:p>
        </p:txBody>
      </p:sp>
    </p:spTree>
    <p:extLst>
      <p:ext uri="{BB962C8B-B14F-4D97-AF65-F5344CB8AC3E}">
        <p14:creationId xmlns:p14="http://schemas.microsoft.com/office/powerpoint/2010/main" val="2596761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정보 은닉 기초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28" y="1196753"/>
            <a:ext cx="4925147" cy="46805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194" y="2132856"/>
            <a:ext cx="4943671" cy="20980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41777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정보 은닉 기초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42" y="1628800"/>
            <a:ext cx="3564838" cy="29727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916" y="1602089"/>
            <a:ext cx="3019846" cy="523948"/>
          </a:xfrm>
          <a:prstGeom prst="rect">
            <a:avLst/>
          </a:prstGeom>
          <a:ln>
            <a:noFill/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168708"/>
            <a:ext cx="2905530" cy="476316"/>
          </a:xfrm>
          <a:prstGeom prst="rect">
            <a:avLst/>
          </a:prstGeom>
          <a:ln>
            <a:noFill/>
          </a:ln>
        </p:spPr>
      </p:pic>
      <p:cxnSp>
        <p:nvCxnSpPr>
          <p:cNvPr id="9" name="직선 화살표 연결선 8"/>
          <p:cNvCxnSpPr/>
          <p:nvPr/>
        </p:nvCxnSpPr>
        <p:spPr>
          <a:xfrm>
            <a:off x="3995936" y="3356992"/>
            <a:ext cx="78017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3995936" y="1844824"/>
            <a:ext cx="78017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621" y="4740161"/>
            <a:ext cx="727280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i="1" dirty="0"/>
              <a:t>“</a:t>
            </a:r>
            <a:r>
              <a:rPr lang="ko-KR" altLang="en-US" b="1" i="1" dirty="0"/>
              <a:t>제한된 방법으로의 접근만 허용을 해서 잘못된 값이</a:t>
            </a:r>
            <a:endParaRPr lang="en-US" altLang="ko-KR" b="1" i="1" dirty="0"/>
          </a:p>
          <a:p>
            <a:pPr algn="ctr">
              <a:lnSpc>
                <a:spcPct val="150000"/>
              </a:lnSpc>
            </a:pPr>
            <a:r>
              <a:rPr lang="ko-KR" altLang="en-US" b="1" i="1" dirty="0"/>
              <a:t>저장되지 않도록 돕고</a:t>
            </a:r>
            <a:r>
              <a:rPr lang="en-US" altLang="ko-KR" b="1" i="1" dirty="0"/>
              <a:t>, </a:t>
            </a:r>
            <a:r>
              <a:rPr lang="ko-KR" altLang="en-US" b="1" i="1" dirty="0"/>
              <a:t>또 실수를 했을 때</a:t>
            </a:r>
            <a:r>
              <a:rPr lang="en-US" altLang="ko-KR" b="1" i="1" dirty="0"/>
              <a:t>, </a:t>
            </a:r>
            <a:r>
              <a:rPr lang="ko-KR" altLang="en-US" b="1" i="1" dirty="0"/>
              <a:t>실수가</a:t>
            </a:r>
            <a:endParaRPr lang="en-US" altLang="ko-KR" b="1" i="1" dirty="0"/>
          </a:p>
          <a:p>
            <a:pPr algn="ctr">
              <a:lnSpc>
                <a:spcPct val="150000"/>
              </a:lnSpc>
            </a:pPr>
            <a:r>
              <a:rPr lang="ko-KR" altLang="en-US" b="1" i="1" dirty="0"/>
              <a:t>쉽게 발견될 수 있도록 해야 한다</a:t>
            </a:r>
            <a:r>
              <a:rPr lang="en-US" altLang="ko-KR" b="1" i="1" dirty="0"/>
              <a:t>!”</a:t>
            </a:r>
            <a:endParaRPr lang="ko-KR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4268631" y="803755"/>
            <a:ext cx="45365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i="1" dirty="0"/>
              <a:t>“</a:t>
            </a:r>
            <a:r>
              <a:rPr lang="ko-KR" altLang="en-US" sz="2000" b="1" i="1" dirty="0"/>
              <a:t>왜 이렇게 귀찮은 일을 할까</a:t>
            </a:r>
            <a:r>
              <a:rPr lang="en-US" altLang="ko-KR" sz="2000" b="1" i="1" dirty="0"/>
              <a:t>?”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57802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547260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외의 개념들</a:t>
            </a:r>
            <a:r>
              <a:rPr lang="en-US" altLang="ko-KR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…</a:t>
            </a:r>
            <a:endParaRPr lang="ko-KR" altLang="en-US" sz="40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395536" y="1268760"/>
            <a:ext cx="8867328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Control Statement &lt;if, switch / while, for&gt;</a:t>
            </a:r>
            <a:b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Array</a:t>
            </a:r>
            <a:b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endParaRPr lang="en-US" altLang="ko-KR" sz="2800" b="1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Times New Roman" panose="02020603050405020304" pitchFamily="18" charset="0"/>
              <a:buChar char="○"/>
            </a:pPr>
            <a:r>
              <a:rPr lang="en-US" altLang="ko-KR" sz="2800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Pointer</a:t>
            </a:r>
            <a:br>
              <a:rPr lang="en-US" altLang="ko-KR" sz="20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endParaRPr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466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73976" y="3570208"/>
            <a:ext cx="88204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학생 </a:t>
            </a:r>
            <a:r>
              <a:rPr lang="en-US" altLang="ko-KR" sz="1400" b="1" dirty="0"/>
              <a:t>50</a:t>
            </a:r>
            <a:r>
              <a:rPr lang="ko-KR" altLang="en-US" sz="1400" b="1" dirty="0"/>
              <a:t>명의 점수를 입력 받은 뒤 평균을 계산하는 프로그램</a:t>
            </a:r>
            <a:br>
              <a:rPr lang="en-US" altLang="ko-KR" sz="1400" b="1" dirty="0"/>
            </a:b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주어진 </a:t>
            </a:r>
            <a:r>
              <a:rPr lang="en-US" altLang="ko-KR" sz="1400" b="1" dirty="0"/>
              <a:t>class</a:t>
            </a:r>
            <a:r>
              <a:rPr lang="ko-KR" altLang="en-US" sz="1400" b="1" dirty="0"/>
              <a:t>의 객체를 생성한 후 멤버 함수들을 사용하여 입력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계산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출력</a:t>
            </a:r>
            <a:br>
              <a:rPr lang="en-US" altLang="ko-KR" sz="1400" b="1" dirty="0"/>
            </a:br>
            <a:r>
              <a:rPr lang="en-US" altLang="ko-KR" sz="1400" b="1" dirty="0"/>
              <a:t>(score</a:t>
            </a:r>
            <a:r>
              <a:rPr lang="ko-KR" altLang="en-US" sz="1400" b="1" dirty="0"/>
              <a:t>를 입력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계산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출력할 시에는 </a:t>
            </a:r>
            <a:r>
              <a:rPr lang="ko-KR" altLang="en-US" sz="1400" b="1" dirty="0">
                <a:solidFill>
                  <a:srgbClr val="FF0000"/>
                </a:solidFill>
              </a:rPr>
              <a:t>무조건</a:t>
            </a:r>
            <a:r>
              <a:rPr lang="ko-KR" altLang="en-US" sz="1400" b="1" dirty="0"/>
              <a:t> 멤버 함수만을 사용</a:t>
            </a:r>
            <a:r>
              <a:rPr lang="en-US" altLang="ko-KR" sz="1400" b="1" dirty="0"/>
              <a:t>)</a:t>
            </a:r>
            <a:br>
              <a:rPr lang="en-US" altLang="ko-KR" sz="1400" b="1" dirty="0"/>
            </a:b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50</a:t>
            </a:r>
            <a:r>
              <a:rPr lang="ko-KR" altLang="en-US" sz="1400" b="1" dirty="0"/>
              <a:t>명의 점수는 무작위로 생성된 정수 </a:t>
            </a:r>
            <a:r>
              <a:rPr lang="en-US" altLang="ko-KR" sz="1400" b="1" dirty="0"/>
              <a:t>(0~100)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endParaRPr lang="en-US" altLang="ko-KR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평균은 소수점 아래 </a:t>
            </a:r>
            <a:r>
              <a:rPr lang="en-US" altLang="ko-KR" sz="1400" b="1" dirty="0"/>
              <a:t>2</a:t>
            </a:r>
            <a:r>
              <a:rPr lang="ko-KR" altLang="en-US" sz="1400" b="1" dirty="0"/>
              <a:t>자리까지 출력</a:t>
            </a:r>
            <a:br>
              <a:rPr lang="en-US" altLang="ko-KR" sz="1400" b="1" dirty="0"/>
            </a:b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학생들의 점수는 정렬된 형태로 출력</a:t>
            </a:r>
            <a:br>
              <a:rPr lang="en-US" altLang="ko-KR" sz="1400" b="1" dirty="0"/>
            </a:br>
            <a:endParaRPr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b="1" dirty="0"/>
              <a:t>매 실행 시 다른 결과를 보여야 함</a:t>
            </a:r>
            <a:br>
              <a:rPr lang="en-US" altLang="ko-KR" sz="1400" b="1" dirty="0"/>
            </a:br>
            <a:endParaRPr lang="en-US" altLang="ko-KR" sz="1400" b="1" dirty="0"/>
          </a:p>
          <a:p>
            <a:br>
              <a:rPr lang="en-US" altLang="ko-KR" sz="1400" b="1" dirty="0"/>
            </a:br>
            <a:endParaRPr lang="en-US" altLang="ko-KR" sz="14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76" y="976300"/>
            <a:ext cx="6319717" cy="24115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652" y="4650224"/>
            <a:ext cx="3638882" cy="1523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5194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주의사항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29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1628800"/>
            <a:ext cx="882047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꼭 프로젝트 폴더 전체를 압축하여 제출하세요</a:t>
            </a:r>
            <a:r>
              <a:rPr lang="en-US" altLang="ko-KR" b="1" dirty="0"/>
              <a:t>.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_</a:t>
            </a:r>
            <a:r>
              <a:rPr lang="ko-KR" altLang="en-US" b="1" dirty="0">
                <a:solidFill>
                  <a:srgbClr val="FF0000"/>
                </a:solidFill>
              </a:rPr>
              <a:t>이름</a:t>
            </a:r>
            <a:r>
              <a:rPr lang="en-US" altLang="ko-KR" b="1" dirty="0">
                <a:solidFill>
                  <a:srgbClr val="FF0000"/>
                </a:solidFill>
              </a:rPr>
              <a:t>).zip</a:t>
            </a:r>
            <a:r>
              <a:rPr lang="en-US" altLang="ko-KR" b="1" dirty="0"/>
              <a:t> </a:t>
            </a:r>
            <a:r>
              <a:rPr lang="ko-KR" altLang="en-US" b="1" dirty="0"/>
              <a:t>형태로 제출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주석 처리 해주시기 바랍니다</a:t>
            </a:r>
            <a:r>
              <a:rPr lang="en-US" altLang="ko-KR" b="1" dirty="0"/>
              <a:t>. </a:t>
            </a:r>
            <a:r>
              <a:rPr lang="ko-KR" altLang="en-US" b="1" dirty="0"/>
              <a:t>없을 시에 감점</a:t>
            </a:r>
            <a:r>
              <a:rPr lang="en-US" altLang="ko-KR" b="1" dirty="0"/>
              <a:t>.|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제출 시간이 </a:t>
            </a:r>
            <a:r>
              <a:rPr lang="en-US" altLang="ko-KR" b="1" dirty="0"/>
              <a:t>11</a:t>
            </a:r>
            <a:r>
              <a:rPr lang="ko-KR" altLang="en-US" b="1" dirty="0"/>
              <a:t>시</a:t>
            </a:r>
            <a:r>
              <a:rPr lang="en-US" altLang="ko-KR" b="1" dirty="0"/>
              <a:t>59</a:t>
            </a:r>
            <a:r>
              <a:rPr lang="ko-KR" altLang="en-US" b="1" dirty="0"/>
              <a:t>분</a:t>
            </a:r>
            <a:r>
              <a:rPr lang="en-US" altLang="ko-KR" b="1" dirty="0"/>
              <a:t>59</a:t>
            </a:r>
            <a:r>
              <a:rPr lang="ko-KR" altLang="en-US" b="1" dirty="0"/>
              <a:t>초에서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초라도 늦으면 불인정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성적 문의는 상담시간을 참고하여 하이테크 </a:t>
            </a:r>
            <a:r>
              <a:rPr lang="en-US" altLang="ko-KR" b="1" dirty="0"/>
              <a:t>1307</a:t>
            </a:r>
            <a:r>
              <a:rPr lang="ko-KR" altLang="en-US" b="1" dirty="0"/>
              <a:t>호로 오세요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sz="1600" b="1" dirty="0"/>
              <a:t>(</a:t>
            </a:r>
            <a:r>
              <a:rPr lang="ko-KR" altLang="en-US" sz="1600" b="1" dirty="0"/>
              <a:t>정말 이건 감점 사유가 아니다 싶은 것만 오시길 바랍니다</a:t>
            </a:r>
            <a:r>
              <a:rPr lang="en-US" altLang="ko-KR" sz="1600" b="1" dirty="0"/>
              <a:t>.)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sz="1400" b="1" dirty="0"/>
            </a:b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4047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1679</TotalTime>
  <Words>377</Words>
  <Application>Microsoft Office PowerPoint</Application>
  <PresentationFormat>화면 슬라이드 쇼(4:3)</PresentationFormat>
  <Paragraphs>166</Paragraphs>
  <Slides>29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Arial Unicode MS</vt:lpstr>
      <vt:lpstr>맑은 고딕</vt:lpstr>
      <vt:lpstr>Arial</vt:lpstr>
      <vt:lpstr>Tahoma</vt:lpstr>
      <vt:lpstr>Times New Roman</vt:lpstr>
      <vt:lpstr>Wingdings</vt:lpstr>
      <vt:lpstr>Office 테마</vt:lpstr>
      <vt:lpstr>디자인 사용자 지정</vt:lpstr>
      <vt:lpstr>Object-oriented Programming</vt:lpstr>
      <vt:lpstr>조교 소개</vt:lpstr>
      <vt:lpstr>VS Download</vt:lpstr>
      <vt:lpstr>VS Download</vt:lpstr>
      <vt:lpstr>VS Download</vt:lpstr>
      <vt:lpstr>VS Download</vt:lpstr>
      <vt:lpstr>VS Download</vt:lpstr>
      <vt:lpstr>VS Download</vt:lpstr>
      <vt:lpstr>VS Download</vt:lpstr>
      <vt:lpstr>VS Download</vt:lpstr>
      <vt:lpstr>VS Download</vt:lpstr>
      <vt:lpstr>VS Download</vt:lpstr>
      <vt:lpstr>VS Download</vt:lpstr>
      <vt:lpstr>VS Download</vt:lpstr>
      <vt:lpstr>OOP1 review</vt:lpstr>
      <vt:lpstr>What is OOP?</vt:lpstr>
      <vt:lpstr>OOP의 특징</vt:lpstr>
      <vt:lpstr>Class?</vt:lpstr>
      <vt:lpstr>Class?</vt:lpstr>
      <vt:lpstr>클래스와 객체</vt:lpstr>
      <vt:lpstr>클래스 선언, 구성</vt:lpstr>
      <vt:lpstr>멤버 접근 명시자</vt:lpstr>
      <vt:lpstr>멤버 접근 명시자 - 예제</vt:lpstr>
      <vt:lpstr>정보 은닉과 캡슐화</vt:lpstr>
      <vt:lpstr>정보 은닉 기초</vt:lpstr>
      <vt:lpstr>정보 은닉 기초</vt:lpstr>
      <vt:lpstr>이 외의 개념들…</vt:lpstr>
      <vt:lpstr>과제</vt:lpstr>
      <vt:lpstr>과제 주의사항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Hanju</dc:creator>
  <cp:lastModifiedBy>Zzan</cp:lastModifiedBy>
  <cp:revision>179</cp:revision>
  <cp:lastPrinted>2015-10-28T23:12:44Z</cp:lastPrinted>
  <dcterms:created xsi:type="dcterms:W3CDTF">2012-06-15T20:49:53Z</dcterms:created>
  <dcterms:modified xsi:type="dcterms:W3CDTF">2016-08-31T13:28:09Z</dcterms:modified>
</cp:coreProperties>
</file>