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7"/>
  </p:notesMasterIdLst>
  <p:handoutMasterIdLst>
    <p:handoutMasterId r:id="rId28"/>
  </p:handoutMasterIdLst>
  <p:sldIdLst>
    <p:sldId id="291" r:id="rId3"/>
    <p:sldId id="292" r:id="rId4"/>
    <p:sldId id="286" r:id="rId5"/>
    <p:sldId id="333" r:id="rId6"/>
    <p:sldId id="334" r:id="rId7"/>
    <p:sldId id="343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4" r:id="rId17"/>
    <p:sldId id="345" r:id="rId18"/>
    <p:sldId id="346" r:id="rId19"/>
    <p:sldId id="347" r:id="rId20"/>
    <p:sldId id="348" r:id="rId21"/>
    <p:sldId id="349" r:id="rId22"/>
    <p:sldId id="284" r:id="rId23"/>
    <p:sldId id="351" r:id="rId24"/>
    <p:sldId id="350" r:id="rId25"/>
    <p:sldId id="306" r:id="rId26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82021" autoAdjust="0"/>
  </p:normalViewPr>
  <p:slideViewPr>
    <p:cSldViewPr>
      <p:cViewPr varScale="1">
        <p:scale>
          <a:sx n="63" d="100"/>
          <a:sy n="63" d="100"/>
        </p:scale>
        <p:origin x="118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2016-09-29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2016-09-29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89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381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569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026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942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33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759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419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614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908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966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527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791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87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920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49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585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74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4337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2135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2016-09-29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2016-09-29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5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995936" y="4459808"/>
            <a:ext cx="6696744" cy="2079104"/>
          </a:xfrm>
        </p:spPr>
        <p:txBody>
          <a:bodyPr>
            <a:noAutofit/>
          </a:bodyPr>
          <a:lstStyle/>
          <a:p>
            <a:r>
              <a:rPr lang="ko-KR" altLang="en-US" sz="6600" dirty="0">
                <a:solidFill>
                  <a:srgbClr val="C00000"/>
                </a:solidFill>
                <a:effectLst>
                  <a:outerShdw blurRad="50800" dist="76200" dir="4200000" sx="102000" sy="102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동적 할당</a:t>
            </a:r>
            <a:endParaRPr lang="ko-KR" altLang="en-US" sz="9600" b="1" dirty="0">
              <a:solidFill>
                <a:srgbClr val="C00000"/>
              </a:solidFill>
              <a:effectLst>
                <a:outerShdw blurRad="50800" dist="76200" dir="4200000" sx="102000" sy="102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4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메모리 구조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36462"/>
              </p:ext>
            </p:extLst>
          </p:nvPr>
        </p:nvGraphicFramePr>
        <p:xfrm>
          <a:off x="971599" y="1556789"/>
          <a:ext cx="2664297" cy="473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91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프로그램 코드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473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전역 변수</a:t>
                      </a:r>
                      <a:br>
                        <a:rPr lang="en-US" altLang="ko-KR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static 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변수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3783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프로그래머 할당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6629"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지역 변수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매개 변수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35896" y="1988840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3635896" y="3068960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3635896" y="4221088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3635896" y="5445224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6056" y="1804174"/>
            <a:ext cx="1224136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코드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6056" y="2884294"/>
            <a:ext cx="1440160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/>
              <a:t>데이터 </a:t>
            </a:r>
            <a:r>
              <a:rPr lang="ko-KR" altLang="en-US" dirty="0"/>
              <a:t>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1953" y="4036422"/>
            <a:ext cx="1002215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/>
              <a:t>힙</a:t>
            </a:r>
            <a:r>
              <a:rPr lang="ko-KR" altLang="en-US" dirty="0"/>
              <a:t> 영역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768" y="5260558"/>
            <a:ext cx="1290247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스택</a:t>
            </a:r>
            <a:r>
              <a:rPr lang="ko-KR" altLang="en-US" dirty="0"/>
              <a:t> 영역</a:t>
            </a:r>
          </a:p>
        </p:txBody>
      </p:sp>
    </p:spTree>
    <p:extLst>
      <p:ext uri="{BB962C8B-B14F-4D97-AF65-F5344CB8AC3E}">
        <p14:creationId xmlns:p14="http://schemas.microsoft.com/office/powerpoint/2010/main" val="113522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메모리 구조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395536" y="1196752"/>
            <a:ext cx="8572560" cy="51435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코드 영역</a:t>
            </a:r>
            <a:endParaRPr lang="en-US" altLang="ko-KR" sz="1800" b="1" dirty="0"/>
          </a:p>
          <a:p>
            <a:pPr lvl="1"/>
            <a:r>
              <a:rPr lang="ko-KR" altLang="en-US" sz="1800" dirty="0"/>
              <a:t>프로그램의 실행 코드</a:t>
            </a:r>
            <a:r>
              <a:rPr lang="en-US" altLang="ko-KR" sz="1800" dirty="0"/>
              <a:t>, </a:t>
            </a:r>
            <a:r>
              <a:rPr lang="ko-KR" altLang="en-US" sz="1800" dirty="0"/>
              <a:t>함수가 저장되는 메모리 공간</a:t>
            </a:r>
            <a:r>
              <a:rPr lang="en-US" altLang="ko-KR" sz="1800" dirty="0"/>
              <a:t>.</a:t>
            </a:r>
            <a:br>
              <a:rPr lang="en-US" altLang="ko-KR" sz="1800" b="1" dirty="0"/>
            </a:br>
            <a:endParaRPr lang="en-US" altLang="ko-KR" dirty="0"/>
          </a:p>
          <a:p>
            <a:r>
              <a:rPr lang="ko-KR" altLang="en-US" sz="1800" b="1" dirty="0"/>
              <a:t>데이터 영역</a:t>
            </a:r>
            <a:endParaRPr lang="en-US" altLang="ko-KR" sz="1800" b="1" dirty="0"/>
          </a:p>
          <a:p>
            <a:pPr lvl="1"/>
            <a:r>
              <a:rPr lang="ko-KR" altLang="en-US" sz="1800" dirty="0"/>
              <a:t>전역 변수</a:t>
            </a:r>
            <a:r>
              <a:rPr lang="en-US" altLang="ko-KR" sz="1800" dirty="0"/>
              <a:t>, static </a:t>
            </a:r>
            <a:r>
              <a:rPr lang="ko-KR" altLang="en-US" sz="1800" dirty="0"/>
              <a:t>변수가 할당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프로그램 시작과 동시에 메모리 공간에 할당</a:t>
            </a:r>
            <a:r>
              <a:rPr lang="en-US" altLang="ko-KR" sz="1800" dirty="0"/>
              <a:t>, </a:t>
            </a:r>
            <a:r>
              <a:rPr lang="ko-KR" altLang="en-US" sz="1800" dirty="0"/>
              <a:t>프로그램 종료 시까지</a:t>
            </a:r>
            <a:br>
              <a:rPr lang="en-US" altLang="ko-KR" sz="1800" dirty="0"/>
            </a:br>
            <a:r>
              <a:rPr lang="ko-KR" altLang="en-US" sz="1800" dirty="0"/>
              <a:t>남아있는다</a:t>
            </a:r>
            <a:r>
              <a:rPr lang="en-US" altLang="ko-KR" sz="1800" dirty="0"/>
              <a:t>.</a:t>
            </a:r>
            <a:br>
              <a:rPr lang="en-US" altLang="ko-KR" sz="1800" b="1" dirty="0"/>
            </a:br>
            <a:endParaRPr lang="en-US" altLang="ko-KR" dirty="0"/>
          </a:p>
          <a:p>
            <a:r>
              <a:rPr lang="ko-KR" altLang="en-US" sz="1800" b="1" dirty="0" err="1"/>
              <a:t>힙</a:t>
            </a:r>
            <a:r>
              <a:rPr lang="ko-KR" altLang="en-US" sz="1800" b="1" dirty="0"/>
              <a:t> 영역</a:t>
            </a:r>
            <a:endParaRPr lang="en-US" altLang="ko-KR" sz="1800" b="1" dirty="0"/>
          </a:p>
          <a:p>
            <a:pPr lvl="1"/>
            <a:r>
              <a:rPr lang="ko-KR" altLang="en-US" sz="1800" dirty="0"/>
              <a:t>프로그래머가 원하는 시점에 변수</a:t>
            </a:r>
            <a:r>
              <a:rPr lang="en-US" altLang="ko-KR" sz="1800" dirty="0"/>
              <a:t>(</a:t>
            </a:r>
            <a:r>
              <a:rPr lang="ko-KR" altLang="en-US" sz="1800" dirty="0"/>
              <a:t>메모리</a:t>
            </a:r>
            <a:r>
              <a:rPr lang="en-US" altLang="ko-KR" sz="1800" dirty="0"/>
              <a:t>)</a:t>
            </a:r>
            <a:r>
              <a:rPr lang="ko-KR" altLang="en-US" sz="1800" dirty="0"/>
              <a:t>를 할당하고 소멸하는 것을 지원</a:t>
            </a:r>
            <a:br>
              <a:rPr lang="en-US" altLang="ko-KR" sz="1800" dirty="0"/>
            </a:br>
            <a:endParaRPr lang="en-US" altLang="ko-KR" dirty="0"/>
          </a:p>
          <a:p>
            <a:r>
              <a:rPr lang="ko-KR" altLang="en-US" sz="1800" b="1" dirty="0" err="1"/>
              <a:t>스택</a:t>
            </a:r>
            <a:r>
              <a:rPr lang="ko-KR" altLang="en-US" sz="1800" b="1" dirty="0"/>
              <a:t> 영역</a:t>
            </a:r>
            <a:endParaRPr lang="en-US" altLang="ko-KR" sz="1800" b="1" dirty="0"/>
          </a:p>
          <a:p>
            <a:pPr lvl="1"/>
            <a:r>
              <a:rPr lang="ko-KR" altLang="en-US" sz="1800" dirty="0"/>
              <a:t>지역 변수와 매개 변수가 할당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함수 빠져나가면 소멸</a:t>
            </a:r>
            <a:r>
              <a:rPr lang="en-US" altLang="ko-KR" sz="1800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278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메모리 구조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23528" y="1412776"/>
            <a:ext cx="8572560" cy="51435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 err="1"/>
              <a:t>스택과</a:t>
            </a:r>
            <a:r>
              <a:rPr lang="ko-KR" altLang="en-US" sz="2000" b="1" dirty="0"/>
              <a:t> 데이터 영역에 할당된 메모리의 크기는 컴파일 시 결정됨</a:t>
            </a:r>
            <a:r>
              <a:rPr lang="en-US" altLang="ko-KR" sz="2000" b="1" dirty="0"/>
              <a:t>.</a:t>
            </a:r>
          </a:p>
          <a:p>
            <a:endParaRPr lang="en-US" altLang="ko-KR" sz="3600" dirty="0"/>
          </a:p>
          <a:p>
            <a:r>
              <a:rPr lang="ko-KR" altLang="en-US" sz="2000" b="1" dirty="0" err="1"/>
              <a:t>힙</a:t>
            </a:r>
            <a:r>
              <a:rPr lang="en-US" altLang="ko-KR" sz="2000" b="1" dirty="0"/>
              <a:t>(Heap)</a:t>
            </a:r>
            <a:r>
              <a:rPr lang="ko-KR" altLang="en-US" sz="2000" b="1" dirty="0"/>
              <a:t> 영역에 메모리를 할당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소멸시키는 것은 프로그래머의 일</a:t>
            </a:r>
            <a:br>
              <a:rPr lang="en-US" altLang="ko-KR" sz="2000" b="1" dirty="0"/>
            </a:b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en-US" sz="2000" b="1" dirty="0" err="1"/>
              <a:t>힙</a:t>
            </a:r>
            <a:r>
              <a:rPr lang="ko-KR" altLang="en-US" sz="2000" b="1" dirty="0"/>
              <a:t> 영역은 </a:t>
            </a:r>
            <a:r>
              <a:rPr lang="ko-KR" altLang="en-US" sz="2000" b="1" dirty="0" err="1"/>
              <a:t>런</a:t>
            </a:r>
            <a:r>
              <a:rPr lang="ko-KR" altLang="en-US" sz="2000" b="1" dirty="0"/>
              <a:t> 타임</a:t>
            </a:r>
            <a:r>
              <a:rPr lang="en-US" altLang="ko-KR" sz="2000" b="1" dirty="0"/>
              <a:t>(run-time)</a:t>
            </a:r>
            <a:r>
              <a:rPr lang="ko-KR" altLang="en-US" sz="2000" b="1" dirty="0"/>
              <a:t>에 결정됨</a:t>
            </a:r>
            <a:r>
              <a:rPr lang="en-US" altLang="ko-KR" sz="2000" b="1" dirty="0"/>
              <a:t>.</a:t>
            </a:r>
            <a:br>
              <a:rPr lang="en-US" altLang="ko-KR" sz="2000" b="1" dirty="0"/>
            </a:b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en-US" sz="2000" b="1" dirty="0"/>
              <a:t>만약 메모리를 할당만 하고 해제하지 않는다면</a:t>
            </a:r>
            <a:r>
              <a:rPr lang="en-US" altLang="ko-KR" sz="2000" b="1" dirty="0"/>
              <a:t>..?</a:t>
            </a:r>
          </a:p>
        </p:txBody>
      </p:sp>
      <p:sp>
        <p:nvSpPr>
          <p:cNvPr id="6" name="폭발 2 1"/>
          <p:cNvSpPr/>
          <p:nvPr/>
        </p:nvSpPr>
        <p:spPr>
          <a:xfrm>
            <a:off x="4359584" y="4699640"/>
            <a:ext cx="4536504" cy="2160240"/>
          </a:xfrm>
          <a:prstGeom prst="irregularSeal2">
            <a:avLst/>
          </a:prstGeom>
          <a:solidFill>
            <a:srgbClr val="00B0F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Memory Leak!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21187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동적 할당이란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67544" y="1571588"/>
            <a:ext cx="8572560" cy="52864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100" b="1" dirty="0"/>
              <a:t>런타임</a:t>
            </a:r>
            <a:r>
              <a:rPr lang="en-US" altLang="ko-KR" sz="2100" b="1" dirty="0"/>
              <a:t>(</a:t>
            </a:r>
            <a:r>
              <a:rPr lang="ko-KR" altLang="en-US" sz="2100" b="1" dirty="0"/>
              <a:t>프로그램 실행 중</a:t>
            </a:r>
            <a:r>
              <a:rPr lang="en-US" altLang="ko-KR" sz="2100" b="1" dirty="0"/>
              <a:t>)</a:t>
            </a:r>
            <a:r>
              <a:rPr lang="ko-KR" altLang="en-US" sz="2100" b="1" dirty="0"/>
              <a:t>에 메모리를 필요한 만큼 할당하는 기법 </a:t>
            </a:r>
            <a:endParaRPr lang="en-US" altLang="ko-KR" sz="2100" b="1" dirty="0"/>
          </a:p>
          <a:p>
            <a:endParaRPr lang="en-US" altLang="ko-KR" sz="2100" b="1" dirty="0"/>
          </a:p>
          <a:p>
            <a:pPr lvl="1"/>
            <a:endParaRPr lang="en-US" altLang="ko-KR" sz="2100" b="1" dirty="0">
              <a:solidFill>
                <a:srgbClr val="008000"/>
              </a:solidFill>
            </a:endParaRPr>
          </a:p>
          <a:p>
            <a:r>
              <a:rPr lang="ko-KR" altLang="en-US" sz="2100" b="1" dirty="0"/>
              <a:t>배열의 크기를 예측할 수 없기 때문에 사용</a:t>
            </a:r>
            <a:r>
              <a:rPr lang="en-US" altLang="ko-KR" sz="2100" b="1" dirty="0"/>
              <a:t>!</a:t>
            </a:r>
            <a:br>
              <a:rPr lang="en-US" altLang="ko-KR" sz="2100" b="1" dirty="0"/>
            </a:br>
            <a:r>
              <a:rPr lang="en-US" altLang="ko-KR" sz="2100" b="1" dirty="0"/>
              <a:t> (</a:t>
            </a:r>
            <a:r>
              <a:rPr lang="ko-KR" altLang="en-US" sz="2100" b="1" dirty="0"/>
              <a:t>컴파일러는 프로그래머의 생각을 예측할 수 없다</a:t>
            </a:r>
            <a:r>
              <a:rPr lang="en-US" altLang="ko-KR" sz="2100" b="1" dirty="0"/>
              <a:t>.)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677970"/>
            <a:ext cx="5948458" cy="16561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곱하기 기호 5"/>
          <p:cNvSpPr/>
          <p:nvPr/>
        </p:nvSpPr>
        <p:spPr>
          <a:xfrm>
            <a:off x="1677577" y="3146985"/>
            <a:ext cx="4104456" cy="2718154"/>
          </a:xfrm>
          <a:prstGeom prst="mathMultiply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13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동적 할당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67544" y="1571588"/>
            <a:ext cx="8572560" cy="52864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 b="1" dirty="0"/>
              <a:t>필요한 만큼 메모리를 할당하기 위해 </a:t>
            </a:r>
            <a:r>
              <a:rPr lang="en-US" altLang="ko-KR" sz="2200" b="1" dirty="0"/>
              <a:t>C++</a:t>
            </a:r>
            <a:r>
              <a:rPr lang="ko-KR" altLang="en-US" sz="2200" b="1" dirty="0"/>
              <a:t>에서는 </a:t>
            </a:r>
            <a:r>
              <a:rPr lang="en-US" altLang="ko-KR" sz="2200" b="1" dirty="0"/>
              <a:t>new</a:t>
            </a:r>
            <a:r>
              <a:rPr lang="ko-KR" altLang="en-US" sz="2200" b="1" dirty="0"/>
              <a:t>를 사용</a:t>
            </a:r>
            <a:endParaRPr lang="en-US" altLang="ko-KR" sz="2200" b="1" dirty="0"/>
          </a:p>
          <a:p>
            <a:endParaRPr lang="en-US" altLang="ko-KR" sz="2200" b="1" dirty="0"/>
          </a:p>
          <a:p>
            <a:pPr lvl="1"/>
            <a:r>
              <a:rPr lang="en-US" altLang="ko-KR" sz="2200" dirty="0" err="1">
                <a:solidFill>
                  <a:srgbClr val="0000FF"/>
                </a:solidFill>
              </a:rPr>
              <a:t>int</a:t>
            </a:r>
            <a:r>
              <a:rPr lang="en-US" altLang="ko-KR" sz="2200" dirty="0">
                <a:solidFill>
                  <a:prstClr val="black"/>
                </a:solidFill>
              </a:rPr>
              <a:t> *p = </a:t>
            </a:r>
            <a:r>
              <a:rPr lang="en-US" altLang="ko-KR" sz="2200" dirty="0">
                <a:solidFill>
                  <a:srgbClr val="0000FF"/>
                </a:solidFill>
              </a:rPr>
              <a:t>new</a:t>
            </a:r>
            <a:r>
              <a:rPr lang="en-US" altLang="ko-KR" sz="2200" dirty="0">
                <a:solidFill>
                  <a:prstClr val="black"/>
                </a:solidFill>
              </a:rPr>
              <a:t> </a:t>
            </a:r>
            <a:r>
              <a:rPr lang="en-US" altLang="ko-KR" sz="2200" dirty="0" err="1">
                <a:solidFill>
                  <a:srgbClr val="0000FF"/>
                </a:solidFill>
              </a:rPr>
              <a:t>int</a:t>
            </a:r>
            <a:r>
              <a:rPr lang="en-US" altLang="ko-KR" sz="2200" dirty="0">
                <a:solidFill>
                  <a:prstClr val="black"/>
                </a:solidFill>
              </a:rPr>
              <a:t>; </a:t>
            </a:r>
            <a:r>
              <a:rPr lang="en-US" altLang="ko-KR" sz="2200" dirty="0">
                <a:solidFill>
                  <a:srgbClr val="008000"/>
                </a:solidFill>
              </a:rPr>
              <a:t>// 4byte </a:t>
            </a:r>
            <a:r>
              <a:rPr lang="ko-KR" altLang="en-US" sz="2200" dirty="0">
                <a:solidFill>
                  <a:srgbClr val="008000"/>
                </a:solidFill>
              </a:rPr>
              <a:t>할당</a:t>
            </a:r>
          </a:p>
          <a:p>
            <a:pPr lvl="1"/>
            <a:r>
              <a:rPr lang="en-US" altLang="ko-KR" sz="2200" dirty="0" err="1">
                <a:solidFill>
                  <a:srgbClr val="0000FF"/>
                </a:solidFill>
              </a:rPr>
              <a:t>int</a:t>
            </a:r>
            <a:r>
              <a:rPr lang="en-US" altLang="ko-KR" sz="2200" dirty="0">
                <a:solidFill>
                  <a:prstClr val="black"/>
                </a:solidFill>
              </a:rPr>
              <a:t> *p = </a:t>
            </a:r>
            <a:r>
              <a:rPr lang="en-US" altLang="ko-KR" sz="2200" dirty="0">
                <a:solidFill>
                  <a:srgbClr val="0000FF"/>
                </a:solidFill>
              </a:rPr>
              <a:t>new</a:t>
            </a:r>
            <a:r>
              <a:rPr lang="en-US" altLang="ko-KR" sz="2200" dirty="0">
                <a:solidFill>
                  <a:prstClr val="black"/>
                </a:solidFill>
              </a:rPr>
              <a:t> </a:t>
            </a:r>
            <a:r>
              <a:rPr lang="en-US" altLang="ko-KR" sz="2200" dirty="0" err="1">
                <a:solidFill>
                  <a:srgbClr val="0000FF"/>
                </a:solidFill>
              </a:rPr>
              <a:t>int</a:t>
            </a:r>
            <a:r>
              <a:rPr lang="en-US" altLang="ko-KR" sz="2200" dirty="0">
                <a:solidFill>
                  <a:prstClr val="black"/>
                </a:solidFill>
              </a:rPr>
              <a:t>[3]; </a:t>
            </a:r>
            <a:r>
              <a:rPr lang="en-US" altLang="ko-KR" sz="2200" dirty="0">
                <a:solidFill>
                  <a:srgbClr val="008000"/>
                </a:solidFill>
              </a:rPr>
              <a:t>// 12byte </a:t>
            </a:r>
            <a:r>
              <a:rPr lang="ko-KR" altLang="en-US" sz="2200" dirty="0">
                <a:solidFill>
                  <a:srgbClr val="008000"/>
                </a:solidFill>
              </a:rPr>
              <a:t>할당</a:t>
            </a:r>
            <a:endParaRPr lang="en-US" altLang="ko-KR" sz="2200" dirty="0">
              <a:solidFill>
                <a:srgbClr val="008000"/>
              </a:solidFill>
            </a:endParaRPr>
          </a:p>
          <a:p>
            <a:pPr lvl="1"/>
            <a:r>
              <a:rPr lang="en-US" altLang="ko-KR" sz="2200" dirty="0" err="1">
                <a:solidFill>
                  <a:srgbClr val="0000FF"/>
                </a:solidFill>
              </a:rPr>
              <a:t>int</a:t>
            </a:r>
            <a:r>
              <a:rPr lang="en-US" altLang="ko-KR" sz="2200" dirty="0">
                <a:solidFill>
                  <a:prstClr val="black"/>
                </a:solidFill>
              </a:rPr>
              <a:t> *p = </a:t>
            </a:r>
            <a:r>
              <a:rPr lang="en-US" altLang="ko-KR" sz="2200" dirty="0">
                <a:solidFill>
                  <a:srgbClr val="0000FF"/>
                </a:solidFill>
              </a:rPr>
              <a:t>new</a:t>
            </a:r>
            <a:r>
              <a:rPr lang="en-US" altLang="ko-KR" sz="2200" dirty="0">
                <a:solidFill>
                  <a:prstClr val="black"/>
                </a:solidFill>
              </a:rPr>
              <a:t> </a:t>
            </a:r>
            <a:r>
              <a:rPr lang="en-US" altLang="ko-KR" sz="2200" dirty="0" err="1">
                <a:solidFill>
                  <a:srgbClr val="0000FF"/>
                </a:solidFill>
              </a:rPr>
              <a:t>int</a:t>
            </a:r>
            <a:r>
              <a:rPr lang="en-US" altLang="ko-KR" sz="2200" dirty="0">
                <a:solidFill>
                  <a:prstClr val="black"/>
                </a:solidFill>
              </a:rPr>
              <a:t>(100); </a:t>
            </a:r>
            <a:r>
              <a:rPr lang="en-US" altLang="ko-KR" sz="2200" dirty="0">
                <a:solidFill>
                  <a:srgbClr val="008000"/>
                </a:solidFill>
              </a:rPr>
              <a:t>// 4byte </a:t>
            </a:r>
            <a:r>
              <a:rPr lang="ko-KR" altLang="en-US" sz="2200" dirty="0">
                <a:solidFill>
                  <a:srgbClr val="008000"/>
                </a:solidFill>
              </a:rPr>
              <a:t>할당</a:t>
            </a:r>
            <a:endParaRPr lang="en-US" altLang="ko-KR" sz="2200" dirty="0">
              <a:solidFill>
                <a:srgbClr val="008000"/>
              </a:solidFill>
            </a:endParaRPr>
          </a:p>
          <a:p>
            <a:pPr lvl="1"/>
            <a:endParaRPr lang="en-US" altLang="ko-KR" sz="2200" b="1" dirty="0">
              <a:solidFill>
                <a:srgbClr val="008000"/>
              </a:solidFill>
            </a:endParaRPr>
          </a:p>
          <a:p>
            <a:r>
              <a:rPr lang="ko-KR" altLang="en-US" sz="2200" b="1" dirty="0"/>
              <a:t>할당한 메모리를 다시 회수기 위해서는 </a:t>
            </a:r>
            <a:r>
              <a:rPr lang="en-US" altLang="ko-KR" sz="2200" b="1" dirty="0"/>
              <a:t>delete</a:t>
            </a:r>
            <a:r>
              <a:rPr lang="ko-KR" altLang="en-US" sz="2200" b="1" dirty="0"/>
              <a:t>를 사용</a:t>
            </a:r>
            <a:endParaRPr lang="en-US" altLang="ko-KR" sz="2200" b="1" dirty="0"/>
          </a:p>
          <a:p>
            <a:endParaRPr lang="en-US" altLang="ko-KR" sz="2200" b="1" dirty="0"/>
          </a:p>
          <a:p>
            <a:pPr lvl="1"/>
            <a:r>
              <a:rPr lang="en-US" altLang="ko-KR" sz="2200" dirty="0">
                <a:solidFill>
                  <a:srgbClr val="0000FF"/>
                </a:solidFill>
              </a:rPr>
              <a:t>delete</a:t>
            </a:r>
            <a:r>
              <a:rPr lang="en-US" altLang="ko-KR" sz="2200" dirty="0">
                <a:solidFill>
                  <a:prstClr val="black"/>
                </a:solidFill>
              </a:rPr>
              <a:t> p;</a:t>
            </a:r>
          </a:p>
          <a:p>
            <a:pPr lvl="1"/>
            <a:r>
              <a:rPr lang="en-US" altLang="ko-KR" sz="2200" dirty="0">
                <a:solidFill>
                  <a:srgbClr val="0000FF"/>
                </a:solidFill>
              </a:rPr>
              <a:t>delete</a:t>
            </a:r>
            <a:r>
              <a:rPr lang="en-US" altLang="ko-KR" sz="2200" dirty="0">
                <a:solidFill>
                  <a:prstClr val="black"/>
                </a:solidFill>
              </a:rPr>
              <a:t> []p;</a:t>
            </a:r>
            <a:endParaRPr lang="ko-KR" altLang="en-US" sz="2200" dirty="0"/>
          </a:p>
        </p:txBody>
      </p:sp>
      <p:sp>
        <p:nvSpPr>
          <p:cNvPr id="3" name="TextBox 2"/>
          <p:cNvSpPr txBox="1"/>
          <p:nvPr/>
        </p:nvSpPr>
        <p:spPr>
          <a:xfrm rot="21076557">
            <a:off x="4236662" y="5094173"/>
            <a:ext cx="4896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동적할당은 이름이 없는 변수</a:t>
            </a:r>
            <a:r>
              <a:rPr lang="en-US" altLang="ko-KR" sz="2000" b="1" dirty="0"/>
              <a:t>???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99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동적 할당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97267"/>
            <a:ext cx="5221420" cy="455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41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동적 할당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65845"/>
            <a:ext cx="3466658" cy="376335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484784"/>
            <a:ext cx="3425245" cy="3744415"/>
          </a:xfrm>
          <a:prstGeom prst="rect">
            <a:avLst/>
          </a:prstGeom>
        </p:spPr>
      </p:pic>
      <p:sp>
        <p:nvSpPr>
          <p:cNvPr id="8" name="오른쪽 화살표 4"/>
          <p:cNvSpPr/>
          <p:nvPr/>
        </p:nvSpPr>
        <p:spPr>
          <a:xfrm>
            <a:off x="4087933" y="3114675"/>
            <a:ext cx="978408" cy="4846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336777" y="542175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&lt;</a:t>
            </a:r>
            <a:r>
              <a:rPr lang="ko-KR" altLang="en-US" b="1" dirty="0"/>
              <a:t>컴파일 전</a:t>
            </a:r>
            <a:r>
              <a:rPr lang="en-US" altLang="ko-KR" b="1" dirty="0"/>
              <a:t>&gt;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68598" y="542175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&lt;</a:t>
            </a:r>
            <a:r>
              <a:rPr lang="ko-KR" altLang="en-US" b="1" dirty="0"/>
              <a:t>컴파일 후</a:t>
            </a:r>
            <a:r>
              <a:rPr lang="en-US" altLang="ko-KR" b="1" dirty="0"/>
              <a:t>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8980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동적 할당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268760"/>
            <a:ext cx="4667250" cy="4695825"/>
          </a:xfrm>
          <a:prstGeom prst="rect">
            <a:avLst/>
          </a:prstGeom>
        </p:spPr>
      </p:pic>
      <p:sp>
        <p:nvSpPr>
          <p:cNvPr id="12" name="타원 11"/>
          <p:cNvSpPr/>
          <p:nvPr/>
        </p:nvSpPr>
        <p:spPr>
          <a:xfrm>
            <a:off x="1835696" y="4149080"/>
            <a:ext cx="1872208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9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동적 할당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169968"/>
            <a:ext cx="6007295" cy="50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78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얕은 복사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17668"/>
            <a:ext cx="7141499" cy="43204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840" y="102157"/>
            <a:ext cx="2880320" cy="2994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728" y="3761434"/>
            <a:ext cx="3815705" cy="119754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4965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얕은 복사의 문제점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390813"/>
            <a:ext cx="5949564" cy="48965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904" y="1032855"/>
            <a:ext cx="3600400" cy="24276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243109"/>
            <a:ext cx="3534891" cy="194736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폭발 1 6"/>
          <p:cNvSpPr/>
          <p:nvPr/>
        </p:nvSpPr>
        <p:spPr>
          <a:xfrm>
            <a:off x="2267744" y="3422998"/>
            <a:ext cx="2376264" cy="1640223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중복 소멸</a:t>
            </a:r>
            <a:r>
              <a:rPr lang="en-US" altLang="ko-KR" b="1" dirty="0"/>
              <a:t>!!!</a:t>
            </a:r>
            <a:endParaRPr lang="ko-KR" altLang="en-US" b="1" dirty="0"/>
          </a:p>
        </p:txBody>
      </p:sp>
      <p:sp>
        <p:nvSpPr>
          <p:cNvPr id="9" name="폭발 2 10"/>
          <p:cNvSpPr/>
          <p:nvPr/>
        </p:nvSpPr>
        <p:spPr>
          <a:xfrm>
            <a:off x="7007464" y="1558091"/>
            <a:ext cx="2339752" cy="2104193"/>
          </a:xfrm>
          <a:prstGeom prst="irregularSeal2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메모리 누수</a:t>
            </a:r>
            <a:r>
              <a:rPr lang="en-US" altLang="ko-KR" b="1" dirty="0"/>
              <a:t>!!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5117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깊은 복사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190382"/>
            <a:ext cx="5543550" cy="4857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왼쪽 화살표 5"/>
          <p:cNvSpPr/>
          <p:nvPr/>
        </p:nvSpPr>
        <p:spPr>
          <a:xfrm>
            <a:off x="4644008" y="3134598"/>
            <a:ext cx="1800200" cy="288032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44208" y="2918574"/>
            <a:ext cx="23984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기존에 있던 문자열을</a:t>
            </a:r>
            <a:endParaRPr lang="en-US" altLang="ko-KR" sz="1400" b="1" dirty="0"/>
          </a:p>
          <a:p>
            <a:r>
              <a:rPr lang="ko-KR" altLang="en-US" sz="1400" b="1" dirty="0"/>
              <a:t>해제시키고</a:t>
            </a:r>
            <a:r>
              <a:rPr lang="en-US" altLang="ko-KR" sz="1400" b="1" dirty="0"/>
              <a:t>,</a:t>
            </a:r>
            <a:br>
              <a:rPr lang="en-US" altLang="ko-KR" sz="1400" b="1" dirty="0"/>
            </a:br>
            <a:r>
              <a:rPr lang="ko-KR" altLang="en-US" sz="1400" b="1" dirty="0"/>
              <a:t>문자열이 복사되긴 하지만</a:t>
            </a:r>
            <a:endParaRPr lang="en-US" altLang="ko-KR" sz="1400" b="1" dirty="0"/>
          </a:p>
          <a:p>
            <a:r>
              <a:rPr lang="ko-KR" altLang="en-US" sz="1400" b="1" dirty="0"/>
              <a:t>중복 소멸이 일어나지 않음</a:t>
            </a:r>
            <a:r>
              <a:rPr lang="en-US" altLang="ko-KR" sz="1400" b="1" dirty="0"/>
              <a:t>!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8333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링크드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리스트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(Linked List)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23528" y="1214304"/>
            <a:ext cx="8572560" cy="52864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100" b="1" dirty="0"/>
              <a:t>간단한 자료 구조의 한 종류</a:t>
            </a:r>
            <a:endParaRPr lang="en-US" altLang="ko-KR" sz="2100" b="1" dirty="0"/>
          </a:p>
          <a:p>
            <a:pPr lvl="1"/>
            <a:endParaRPr lang="en-US" altLang="ko-KR" sz="2100" b="1" dirty="0">
              <a:solidFill>
                <a:srgbClr val="008000"/>
              </a:solidFill>
            </a:endParaRPr>
          </a:p>
          <a:p>
            <a:r>
              <a:rPr lang="ko-KR" altLang="en-US" sz="2100" b="1" dirty="0"/>
              <a:t>삽입</a:t>
            </a:r>
            <a:r>
              <a:rPr lang="en-US" altLang="ko-KR" sz="2100" b="1" dirty="0"/>
              <a:t>, </a:t>
            </a:r>
            <a:r>
              <a:rPr lang="ko-KR" altLang="en-US" sz="2100" b="1" dirty="0"/>
              <a:t>삭제</a:t>
            </a:r>
            <a:r>
              <a:rPr lang="en-US" altLang="ko-KR" sz="2100" b="1" dirty="0"/>
              <a:t>, </a:t>
            </a:r>
            <a:r>
              <a:rPr lang="ko-KR" altLang="en-US" sz="2100" b="1" dirty="0"/>
              <a:t>탐색 등의 기능이 존재한다</a:t>
            </a:r>
            <a:r>
              <a:rPr lang="en-US" altLang="ko-KR" sz="2100" b="1" dirty="0"/>
              <a:t>.</a:t>
            </a:r>
            <a:br>
              <a:rPr lang="en-US" altLang="ko-KR" sz="2100" b="1" dirty="0"/>
            </a:br>
            <a:endParaRPr lang="en-US" altLang="ko-KR" sz="2100" b="1" dirty="0"/>
          </a:p>
          <a:p>
            <a:r>
              <a:rPr lang="ko-KR" altLang="en-US" sz="2100" b="1" dirty="0"/>
              <a:t>여러 개의 노드</a:t>
            </a:r>
            <a:r>
              <a:rPr lang="en-US" altLang="ko-KR" sz="2100" b="1" dirty="0"/>
              <a:t>(node)</a:t>
            </a:r>
            <a:r>
              <a:rPr lang="ko-KR" altLang="en-US" sz="2100" b="1" dirty="0"/>
              <a:t>로 구성되어 있으며</a:t>
            </a:r>
            <a:r>
              <a:rPr lang="en-US" altLang="ko-KR" sz="2100" b="1" dirty="0"/>
              <a:t>,</a:t>
            </a:r>
            <a:r>
              <a:rPr lang="ko-KR" altLang="en-US" sz="2100" b="1" dirty="0"/>
              <a:t> 노드는 다음 노드를 가리키는 포인터</a:t>
            </a:r>
            <a:r>
              <a:rPr lang="en-US" altLang="ko-KR" sz="2100" b="1" dirty="0"/>
              <a:t>(next)</a:t>
            </a:r>
            <a:r>
              <a:rPr lang="ko-KR" altLang="en-US" sz="2100" b="1" dirty="0"/>
              <a:t>와 데이터를 갖는다</a:t>
            </a:r>
            <a:endParaRPr lang="en-US" altLang="ko-KR" sz="2100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005064"/>
            <a:ext cx="6723816" cy="90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77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링크드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리스트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(Linked List)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2" y="2132856"/>
            <a:ext cx="4438993" cy="2615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15815" y="4859426"/>
            <a:ext cx="3142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&lt;</a:t>
            </a:r>
            <a:r>
              <a:rPr lang="ko-KR" altLang="en-US" sz="3200" b="1" dirty="0"/>
              <a:t>노드의 구성</a:t>
            </a:r>
            <a:r>
              <a:rPr lang="en-US" altLang="ko-KR" sz="3200" b="1" dirty="0"/>
              <a:t>&gt;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58276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링크드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리스트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(Linked List)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58" y="1196752"/>
            <a:ext cx="8316839" cy="39153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61270" y="5229200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&lt;</a:t>
            </a:r>
            <a:r>
              <a:rPr lang="ko-KR" altLang="en-US" sz="3200" b="1" dirty="0" err="1"/>
              <a:t>링크드</a:t>
            </a:r>
            <a:r>
              <a:rPr lang="ko-KR" altLang="en-US" sz="3200" b="1" dirty="0"/>
              <a:t> 리스트에서의 입력</a:t>
            </a:r>
            <a:r>
              <a:rPr lang="en-US" altLang="ko-KR" sz="3200" b="1" dirty="0"/>
              <a:t>&gt;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7918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링크드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리스트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(Linked List)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861270" y="5229200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&lt;</a:t>
            </a:r>
            <a:r>
              <a:rPr lang="ko-KR" altLang="en-US" sz="3200" b="1" dirty="0" err="1"/>
              <a:t>링크드</a:t>
            </a:r>
            <a:r>
              <a:rPr lang="ko-KR" altLang="en-US" sz="3200" b="1" dirty="0"/>
              <a:t> 리스트에서의 탐색</a:t>
            </a:r>
            <a:r>
              <a:rPr lang="en-US" altLang="ko-KR" sz="3200" b="1" dirty="0"/>
              <a:t>&gt;</a:t>
            </a:r>
            <a:endParaRPr lang="ko-KR" altLang="en-US" sz="32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46070"/>
            <a:ext cx="8770098" cy="286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183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링크드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리스트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(Linked List)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861270" y="5229200"/>
            <a:ext cx="5807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&lt;</a:t>
            </a:r>
            <a:r>
              <a:rPr lang="ko-KR" altLang="en-US" sz="3200" b="1" dirty="0" err="1"/>
              <a:t>링크드</a:t>
            </a:r>
            <a:r>
              <a:rPr lang="ko-KR" altLang="en-US" sz="3200" b="1" dirty="0"/>
              <a:t> 리스트에서의 삭제</a:t>
            </a:r>
            <a:r>
              <a:rPr lang="en-US" altLang="ko-KR" sz="3200" b="1" dirty="0"/>
              <a:t>1&gt;</a:t>
            </a:r>
            <a:endParaRPr lang="ko-KR" altLang="en-US" sz="32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97" y="1193708"/>
            <a:ext cx="7828019" cy="381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43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링크드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리스트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(Linked List)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861270" y="5229200"/>
            <a:ext cx="5807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&lt;</a:t>
            </a:r>
            <a:r>
              <a:rPr lang="ko-KR" altLang="en-US" sz="3200" b="1" dirty="0" err="1"/>
              <a:t>링크드</a:t>
            </a:r>
            <a:r>
              <a:rPr lang="ko-KR" altLang="en-US" sz="3200" b="1" dirty="0"/>
              <a:t> 리스트에서의 삭제</a:t>
            </a:r>
            <a:r>
              <a:rPr lang="en-US" altLang="ko-KR" sz="3200" b="1" dirty="0"/>
              <a:t>2&gt;</a:t>
            </a:r>
            <a:endParaRPr lang="ko-KR" altLang="en-US" sz="32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78" y="1120099"/>
            <a:ext cx="7888458" cy="410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73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73420" y="2204864"/>
            <a:ext cx="9710464" cy="4188123"/>
          </a:xfrm>
        </p:spPr>
        <p:txBody>
          <a:bodyPr>
            <a:noAutofit/>
          </a:bodyPr>
          <a:lstStyle/>
          <a:p>
            <a:r>
              <a:rPr lang="ko-KR" altLang="en-US" sz="1800" dirty="0">
                <a:latin typeface="+mn-lt"/>
              </a:rPr>
              <a:t>요구사항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>
                <a:latin typeface="+mn-lt"/>
              </a:rPr>
              <a:t>Node, SLL </a:t>
            </a:r>
            <a:r>
              <a:rPr lang="ko-KR" altLang="en-US" sz="1800" dirty="0">
                <a:latin typeface="+mn-lt"/>
              </a:rPr>
              <a:t>클래스 생성 </a:t>
            </a:r>
            <a:r>
              <a:rPr lang="en-US" altLang="ko-KR" sz="1800" dirty="0">
                <a:latin typeface="+mn-lt"/>
              </a:rPr>
              <a:t>&lt;</a:t>
            </a:r>
            <a:r>
              <a:rPr lang="en-US" altLang="ko-KR" sz="1800" dirty="0" err="1">
                <a:latin typeface="+mn-lt"/>
              </a:rPr>
              <a:t>Node.h</a:t>
            </a:r>
            <a:r>
              <a:rPr lang="en-US" altLang="ko-KR" sz="1800" dirty="0">
                <a:latin typeface="+mn-lt"/>
              </a:rPr>
              <a:t>  Node.cpp  </a:t>
            </a:r>
            <a:r>
              <a:rPr lang="en-US" altLang="ko-KR" sz="1800" dirty="0" err="1">
                <a:latin typeface="+mn-lt"/>
              </a:rPr>
              <a:t>SLL.h</a:t>
            </a:r>
            <a:r>
              <a:rPr lang="en-US" altLang="ko-KR" sz="1800" dirty="0">
                <a:latin typeface="+mn-lt"/>
              </a:rPr>
              <a:t>  SLL.cpp  main.cpp&gt;</a:t>
            </a:r>
            <a:r>
              <a:rPr lang="ko-KR" altLang="en-US" sz="1800" dirty="0">
                <a:latin typeface="+mn-lt"/>
              </a:rPr>
              <a:t>로 분할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앞에서부터 </a:t>
            </a:r>
            <a:r>
              <a:rPr lang="en-US" altLang="ko-KR" sz="1800" dirty="0">
                <a:latin typeface="+mn-lt"/>
              </a:rPr>
              <a:t>(head</a:t>
            </a:r>
            <a:r>
              <a:rPr lang="ko-KR" altLang="en-US" sz="1800" dirty="0">
                <a:latin typeface="+mn-lt"/>
              </a:rPr>
              <a:t>에서</a:t>
            </a:r>
            <a:r>
              <a:rPr lang="en-US" altLang="ko-KR" sz="1800" dirty="0">
                <a:latin typeface="+mn-lt"/>
              </a:rPr>
              <a:t>) </a:t>
            </a:r>
            <a:r>
              <a:rPr lang="ko-KR" altLang="en-US" sz="1800" dirty="0">
                <a:latin typeface="+mn-lt"/>
              </a:rPr>
              <a:t>입력을 받는 </a:t>
            </a:r>
            <a:r>
              <a:rPr lang="ko-KR" altLang="en-US" sz="1800" dirty="0" err="1">
                <a:latin typeface="+mn-lt"/>
              </a:rPr>
              <a:t>링크드</a:t>
            </a:r>
            <a:r>
              <a:rPr lang="ko-KR" altLang="en-US" sz="1800" dirty="0">
                <a:latin typeface="+mn-lt"/>
              </a:rPr>
              <a:t> 리스트 구현</a:t>
            </a:r>
            <a:endParaRPr lang="en-US" altLang="ko-KR" sz="1800" b="1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각각의 함수는 다음과 같은 영단어를 입력 받으며 동작한다</a:t>
            </a:r>
            <a:r>
              <a:rPr lang="en-US" altLang="ko-KR" sz="1800" dirty="0">
                <a:latin typeface="+mn-lt"/>
              </a:rPr>
              <a:t>.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I: insert </a:t>
            </a:r>
            <a:r>
              <a:rPr lang="ko-KR" altLang="en-US" sz="1800" dirty="0">
                <a:latin typeface="+mn-lt"/>
              </a:rPr>
              <a:t>함수</a:t>
            </a:r>
            <a:r>
              <a:rPr lang="en-US" altLang="ko-KR" sz="1800" dirty="0">
                <a:latin typeface="+mn-lt"/>
              </a:rPr>
              <a:t>, D: delete </a:t>
            </a:r>
            <a:r>
              <a:rPr lang="ko-KR" altLang="en-US" sz="1800" dirty="0">
                <a:latin typeface="+mn-lt"/>
              </a:rPr>
              <a:t>함수</a:t>
            </a:r>
            <a:r>
              <a:rPr lang="en-US" altLang="ko-KR" sz="1800" dirty="0">
                <a:latin typeface="+mn-lt"/>
              </a:rPr>
              <a:t>, F: find </a:t>
            </a:r>
            <a:r>
              <a:rPr lang="ko-KR" altLang="en-US" sz="1800" dirty="0">
                <a:latin typeface="+mn-lt"/>
              </a:rPr>
              <a:t>함수</a:t>
            </a:r>
            <a:r>
              <a:rPr lang="en-US" altLang="ko-KR" sz="1800" dirty="0">
                <a:latin typeface="+mn-lt"/>
              </a:rPr>
              <a:t>, S: show </a:t>
            </a:r>
            <a:r>
              <a:rPr lang="ko-KR" altLang="en-US" sz="1800" dirty="0">
                <a:latin typeface="+mn-lt"/>
              </a:rPr>
              <a:t>함수</a:t>
            </a:r>
            <a:r>
              <a:rPr lang="en-US" altLang="ko-KR" sz="1800" dirty="0">
                <a:latin typeface="+mn-lt"/>
              </a:rPr>
              <a:t>, Q: quit </a:t>
            </a:r>
            <a:r>
              <a:rPr lang="ko-KR" altLang="en-US" sz="1800" dirty="0">
                <a:latin typeface="+mn-lt"/>
              </a:rPr>
              <a:t>함수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ex) </a:t>
            </a:r>
            <a:r>
              <a:rPr lang="en-US" altLang="ko-KR" sz="1800" b="1" dirty="0">
                <a:latin typeface="+mn-lt"/>
              </a:rPr>
              <a:t>I 4	</a:t>
            </a:r>
            <a:r>
              <a:rPr lang="en-US" altLang="ko-KR" sz="1800" dirty="0">
                <a:latin typeface="+mn-lt"/>
              </a:rPr>
              <a:t>&gt;&gt; </a:t>
            </a:r>
            <a:r>
              <a:rPr lang="ko-KR" altLang="en-US" sz="1800" dirty="0">
                <a:latin typeface="+mn-lt"/>
              </a:rPr>
              <a:t>리스트에 </a:t>
            </a:r>
            <a:r>
              <a:rPr lang="en-US" altLang="ko-KR" sz="1800" dirty="0">
                <a:latin typeface="+mn-lt"/>
              </a:rPr>
              <a:t>4</a:t>
            </a:r>
            <a:r>
              <a:rPr lang="ko-KR" altLang="en-US" sz="1800" dirty="0">
                <a:latin typeface="+mn-lt"/>
              </a:rPr>
              <a:t>를 입력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    </a:t>
            </a:r>
            <a:r>
              <a:rPr lang="en-US" altLang="ko-KR" sz="1800" b="1" dirty="0">
                <a:latin typeface="+mn-lt"/>
              </a:rPr>
              <a:t>D 3</a:t>
            </a:r>
            <a:r>
              <a:rPr lang="en-US" altLang="ko-KR" sz="1800" dirty="0">
                <a:latin typeface="+mn-lt"/>
              </a:rPr>
              <a:t> 	&gt;&gt; </a:t>
            </a:r>
            <a:r>
              <a:rPr lang="ko-KR" altLang="en-US" sz="1800" dirty="0">
                <a:latin typeface="+mn-lt"/>
              </a:rPr>
              <a:t>리스트에서 </a:t>
            </a:r>
            <a:r>
              <a:rPr lang="en-US" altLang="ko-KR" sz="1800" dirty="0">
                <a:latin typeface="+mn-lt"/>
              </a:rPr>
              <a:t>3</a:t>
            </a:r>
            <a:r>
              <a:rPr lang="ko-KR" altLang="en-US" sz="1800" dirty="0">
                <a:latin typeface="+mn-lt"/>
              </a:rPr>
              <a:t>을 삭제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    </a:t>
            </a:r>
            <a:r>
              <a:rPr lang="en-US" altLang="ko-KR" sz="1800" b="1" dirty="0">
                <a:latin typeface="+mn-lt"/>
              </a:rPr>
              <a:t>F 6</a:t>
            </a:r>
            <a:r>
              <a:rPr lang="en-US" altLang="ko-KR" sz="1800" dirty="0">
                <a:latin typeface="+mn-lt"/>
              </a:rPr>
              <a:t> 	&gt;&gt; </a:t>
            </a:r>
            <a:r>
              <a:rPr lang="ko-KR" altLang="en-US" sz="1800" dirty="0">
                <a:latin typeface="+mn-lt"/>
              </a:rPr>
              <a:t>리스트에서 </a:t>
            </a:r>
            <a:r>
              <a:rPr lang="en-US" altLang="ko-KR" sz="1800" dirty="0">
                <a:latin typeface="+mn-lt"/>
              </a:rPr>
              <a:t>6</a:t>
            </a:r>
            <a:r>
              <a:rPr lang="ko-KR" altLang="en-US" sz="1800" dirty="0">
                <a:latin typeface="+mn-lt"/>
              </a:rPr>
              <a:t>을 탐색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	  </a:t>
            </a:r>
            <a:r>
              <a:rPr lang="en-US" altLang="ko-KR" sz="1800" b="1" dirty="0">
                <a:latin typeface="+mn-lt"/>
              </a:rPr>
              <a:t>S	</a:t>
            </a:r>
            <a:r>
              <a:rPr lang="en-US" altLang="ko-KR" sz="1800" dirty="0">
                <a:latin typeface="+mn-lt"/>
              </a:rPr>
              <a:t>&gt;&gt; </a:t>
            </a:r>
            <a:r>
              <a:rPr lang="ko-KR" altLang="en-US" sz="1800" dirty="0">
                <a:latin typeface="+mn-lt"/>
              </a:rPr>
              <a:t>현재 리스트 상태를 출력</a:t>
            </a:r>
            <a:br>
              <a:rPr lang="en-US" altLang="ko-KR" sz="1800" dirty="0">
                <a:latin typeface="+mn-lt"/>
              </a:rPr>
            </a:br>
            <a:r>
              <a:rPr lang="en-US" altLang="ko-KR" sz="1800" dirty="0">
                <a:latin typeface="+mn-lt"/>
              </a:rPr>
              <a:t>	  </a:t>
            </a:r>
            <a:r>
              <a:rPr lang="en-US" altLang="ko-KR" sz="1800" b="1" dirty="0">
                <a:latin typeface="+mn-lt"/>
              </a:rPr>
              <a:t>Q	</a:t>
            </a:r>
            <a:r>
              <a:rPr lang="en-US" altLang="ko-KR" sz="1800" dirty="0">
                <a:latin typeface="+mn-lt"/>
              </a:rPr>
              <a:t>&gt;&gt; </a:t>
            </a:r>
            <a:r>
              <a:rPr lang="ko-KR" altLang="en-US" sz="1800" dirty="0">
                <a:latin typeface="+mn-lt"/>
              </a:rPr>
              <a:t>프로그램 종료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각 함수들</a:t>
            </a:r>
            <a:r>
              <a:rPr lang="en-US" altLang="ko-KR" sz="1800" dirty="0">
                <a:latin typeface="+mn-lt"/>
              </a:rPr>
              <a:t>, </a:t>
            </a:r>
            <a:r>
              <a:rPr lang="ko-KR" altLang="en-US" sz="1800" dirty="0">
                <a:latin typeface="+mn-lt"/>
              </a:rPr>
              <a:t>기능의 모듈화 정도에 따라 점수가 달라질 수 있습니다</a:t>
            </a:r>
            <a:r>
              <a:rPr lang="en-US" altLang="ko-KR" sz="1800" dirty="0">
                <a:latin typeface="+mn-lt"/>
              </a:rPr>
              <a:t>.</a:t>
            </a:r>
          </a:p>
          <a:p>
            <a:pPr lvl="1"/>
            <a:r>
              <a:rPr lang="ko-KR" altLang="en-US" sz="1800" dirty="0">
                <a:latin typeface="+mn-lt"/>
              </a:rPr>
              <a:t>가능한 모든 예외처리를 시도해주시기 바랍니다</a:t>
            </a:r>
            <a:r>
              <a:rPr lang="en-US" altLang="ko-KR" sz="1800" dirty="0">
                <a:latin typeface="+mn-lt"/>
              </a:rPr>
              <a:t>.</a:t>
            </a:r>
          </a:p>
          <a:p>
            <a:pPr lvl="1"/>
            <a:r>
              <a:rPr lang="ko-KR" altLang="en-US" sz="1800" dirty="0">
                <a:latin typeface="+mn-lt"/>
              </a:rPr>
              <a:t>다음 페이지에 있는 코드 참고</a:t>
            </a:r>
            <a:endParaRPr lang="en-US" altLang="ko-KR" sz="1800" dirty="0">
              <a:latin typeface="+mn-lt"/>
            </a:endParaRPr>
          </a:p>
          <a:p>
            <a:pPr lvl="1"/>
            <a:endParaRPr lang="en-US" altLang="ko-KR" sz="18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동적 할당을 사용한 </a:t>
            </a:r>
            <a:r>
              <a:rPr lang="en-US" altLang="ko-KR" sz="2800" b="1" dirty="0"/>
              <a:t>Singly Linked List </a:t>
            </a:r>
            <a:r>
              <a:rPr lang="ko-KR" altLang="en-US" sz="2800" b="1" dirty="0"/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Singly Linked List </a:t>
            </a:r>
            <a:r>
              <a:rPr lang="ko-KR" altLang="en-US" sz="2800" b="1" dirty="0"/>
              <a:t>구현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276872"/>
            <a:ext cx="2880320" cy="26231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276872"/>
            <a:ext cx="3024336" cy="31870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8267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Singly Linked List </a:t>
            </a:r>
            <a:r>
              <a:rPr lang="ko-KR" altLang="en-US" sz="2800" b="1" dirty="0"/>
              <a:t>구현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26303"/>
            <a:ext cx="7416824" cy="446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01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.|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2049</TotalTime>
  <Words>379</Words>
  <Application>Microsoft Office PowerPoint</Application>
  <PresentationFormat>화면 슬라이드 쇼(4:3)</PresentationFormat>
  <Paragraphs>149</Paragraphs>
  <Slides>24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Arial Unicode MS</vt:lpstr>
      <vt:lpstr>맑은 고딕</vt:lpstr>
      <vt:lpstr>Arial</vt:lpstr>
      <vt:lpstr>Tahoma</vt:lpstr>
      <vt:lpstr>Times New Roman</vt:lpstr>
      <vt:lpstr>Office 테마</vt:lpstr>
      <vt:lpstr>디자인 사용자 지정</vt:lpstr>
      <vt:lpstr>Object-oriented Programming</vt:lpstr>
      <vt:lpstr>동적 할당</vt:lpstr>
      <vt:lpstr>메모리 구조</vt:lpstr>
      <vt:lpstr>메모리 구조</vt:lpstr>
      <vt:lpstr>메모리 구조</vt:lpstr>
      <vt:lpstr>동적 할당이란?</vt:lpstr>
      <vt:lpstr>동적 할당</vt:lpstr>
      <vt:lpstr>동적 할당</vt:lpstr>
      <vt:lpstr>동적 할당</vt:lpstr>
      <vt:lpstr>동적 할당</vt:lpstr>
      <vt:lpstr>동적 할당</vt:lpstr>
      <vt:lpstr>얕은 복사</vt:lpstr>
      <vt:lpstr>얕은 복사의 문제점</vt:lpstr>
      <vt:lpstr>깊은 복사</vt:lpstr>
      <vt:lpstr>링크드 리스트 (Linked List)</vt:lpstr>
      <vt:lpstr>링크드 리스트 (Linked List)</vt:lpstr>
      <vt:lpstr>링크드 리스트 (Linked List)</vt:lpstr>
      <vt:lpstr>링크드 리스트 (Linked List)</vt:lpstr>
      <vt:lpstr>링크드 리스트 (Linked List)</vt:lpstr>
      <vt:lpstr>링크드 리스트 (Linked List)</vt:lpstr>
      <vt:lpstr>과제</vt:lpstr>
      <vt:lpstr>과제</vt:lpstr>
      <vt:lpstr>과제</vt:lpstr>
      <vt:lpstr>과제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Zzan</cp:lastModifiedBy>
  <cp:revision>204</cp:revision>
  <cp:lastPrinted>2015-10-28T23:12:44Z</cp:lastPrinted>
  <dcterms:created xsi:type="dcterms:W3CDTF">2012-06-15T20:49:53Z</dcterms:created>
  <dcterms:modified xsi:type="dcterms:W3CDTF">2016-09-29T00:58:51Z</dcterms:modified>
</cp:coreProperties>
</file>