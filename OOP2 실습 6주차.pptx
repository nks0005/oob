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11"/>
  </p:notesMasterIdLst>
  <p:handoutMasterIdLst>
    <p:handoutMasterId r:id="rId12"/>
  </p:handoutMasterIdLst>
  <p:sldIdLst>
    <p:sldId id="291" r:id="rId3"/>
    <p:sldId id="286" r:id="rId4"/>
    <p:sldId id="352" r:id="rId5"/>
    <p:sldId id="284" r:id="rId6"/>
    <p:sldId id="354" r:id="rId7"/>
    <p:sldId id="351" r:id="rId8"/>
    <p:sldId id="353" r:id="rId9"/>
    <p:sldId id="306" r:id="rId10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AFD4"/>
    <a:srgbClr val="B1C7E1"/>
    <a:srgbClr val="C2E2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82021" autoAdjust="0"/>
  </p:normalViewPr>
  <p:slideViewPr>
    <p:cSldViewPr>
      <p:cViewPr>
        <p:scale>
          <a:sx n="100" d="100"/>
          <a:sy n="100" d="100"/>
        </p:scale>
        <p:origin x="954" y="8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E3874-7BFA-4E6E-BE86-60B30CE4A117}" type="datetimeFigureOut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2016-10-06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B3E06-38D3-47EF-AE2A-C4CBEBCA5DE5}" type="slidenum">
              <a:rPr lang="ko-KR" altLang="en-US" smtClean="0">
                <a:latin typeface="Arial Unicode MS" panose="020B0604020202020204" pitchFamily="50" charset="-127"/>
                <a:ea typeface="Arial Unicode MS" panose="020B0604020202020204" pitchFamily="50" charset="-127"/>
              </a:rPr>
              <a:t>‹#›</a:t>
            </a:fld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80944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B139F31C-191E-4666-8F67-D37AE9CD3BE8}" type="datetimeFigureOut">
              <a:rPr lang="ko-KR" altLang="en-US" smtClean="0"/>
              <a:pPr/>
              <a:t>2016-10-06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5BF70FA3-CB09-4D27-BFC7-0900EDFEFCE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815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Arial Unicode MS" panose="020B0604020202020204" pitchFamily="50" charset="-127"/>
        <a:ea typeface="Arial Unicode MS" panose="020B06040202020202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56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689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51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825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028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433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581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F70FA3-CB09-4D27-BFC7-0900EDFEFCE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03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8761-C7AC-4ADE-A25A-DF9FD0E8ABA4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5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52C0-5A51-423A-BFFF-6C1A9D868433}" type="datetime1">
              <a:rPr lang="ko-KR" altLang="en-US" smtClean="0"/>
              <a:t>2016-10-06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41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9331C-83AF-4C12-89EF-450C82CA4F44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55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A0BFF-9A58-4775-9339-ECAA48BEE7D6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649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E2CC-0499-453B-AC2D-F2522AE35D71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663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8C783-6BB1-4F53-86B6-83B4A1FE8FAC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83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5D2D-D4AC-40BE-B792-71C1E46F7B81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2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E20A-35E3-4F0D-A3F8-3149666FD494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07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77B8-D269-40AA-BD66-0C9CE2A90C3C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11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1F70B-4ABC-4A1C-A2F3-ACDD254842BB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847-BFB1-4862-BC1F-4B42CE510BE5}" type="datetime1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49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927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6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98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213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56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5318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27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0255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991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747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7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3DCF4BCA-F02B-4388-9CC9-9E88F19F949E}" type="datetime1">
              <a:rPr lang="ko-KR" altLang="en-US" smtClean="0"/>
              <a:pPr/>
              <a:t>2016-10-06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</a:defRPr>
            </a:lvl1pPr>
          </a:lstStyle>
          <a:p>
            <a:fld id="{6B102114-8B7A-4408-B8CB-F3C50019E6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165304"/>
            <a:ext cx="2051720" cy="6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7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 Unicode MS" panose="020B0604020202020204" pitchFamily="50" charset="-127"/>
          <a:ea typeface="Arial Unicode MS" panose="020B0604020202020204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48E54-1C83-4620-B5DC-1C9270F95D6E}" type="datetimeFigureOut">
              <a:rPr lang="ko-KR" altLang="en-US" smtClean="0"/>
              <a:t>2016-10-06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862F-095E-410C-BC4C-5B69443CF2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2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56478" y="1844824"/>
            <a:ext cx="8892480" cy="1985392"/>
          </a:xfrm>
        </p:spPr>
        <p:txBody>
          <a:bodyPr>
            <a:normAutofit/>
          </a:bodyPr>
          <a:lstStyle/>
          <a:p>
            <a:r>
              <a:rPr lang="en-US" altLang="ko-KR" sz="48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Object-oriented Programming</a:t>
            </a:r>
            <a:endParaRPr lang="ko-KR" altLang="en-US" sz="4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5</a:t>
            </a:r>
            <a:endParaRPr lang="ko-KR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1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연산자 오버로딩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8023"/>
            <a:ext cx="9144000" cy="340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2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128792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얕은 </a:t>
            </a:r>
            <a:r>
              <a:rPr lang="en-US" altLang="ko-KR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/ </a:t>
            </a:r>
            <a:r>
              <a:rPr lang="ko-KR" altLang="en-US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깊은 복사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11" name="그룹 10"/>
          <p:cNvGrpSpPr/>
          <p:nvPr/>
        </p:nvGrpSpPr>
        <p:grpSpPr>
          <a:xfrm>
            <a:off x="2195736" y="3486905"/>
            <a:ext cx="5126736" cy="2840845"/>
            <a:chOff x="251520" y="1930853"/>
            <a:chExt cx="5126736" cy="2840845"/>
          </a:xfrm>
        </p:grpSpPr>
        <p:pic>
          <p:nvPicPr>
            <p:cNvPr id="5" name="Picture 2" descr="Image result for shallow copy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51520" y="1930853"/>
              <a:ext cx="5126736" cy="2840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557000" y="269881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int</a:t>
              </a:r>
              <a:r>
                <a:rPr lang="en-US" altLang="ko-KR" dirty="0"/>
                <a:t>*</a:t>
              </a:r>
              <a:endParaRPr lang="ko-KR" alt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429144" y="269881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int</a:t>
              </a:r>
              <a:r>
                <a:rPr lang="en-US" altLang="ko-KR" dirty="0"/>
                <a:t>*</a:t>
              </a:r>
              <a:endParaRPr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22576" y="269881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int</a:t>
              </a:r>
              <a:r>
                <a:rPr lang="en-US" altLang="ko-KR" dirty="0"/>
                <a:t>*</a:t>
              </a:r>
              <a:endParaRPr lang="ko-KR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26471" y="2698812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err="1"/>
                <a:t>int</a:t>
              </a:r>
              <a:r>
                <a:rPr lang="en-US" altLang="ko-KR" dirty="0"/>
                <a:t>*</a:t>
              </a:r>
              <a:endParaRPr lang="ko-KR" altLang="en-US" dirty="0"/>
            </a:p>
          </p:txBody>
        </p:sp>
      </p:grp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107504" y="1167989"/>
            <a:ext cx="8989716" cy="324028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얕은 복사</a:t>
            </a:r>
            <a:endParaRPr lang="en-US" altLang="ko-KR" sz="2000" dirty="0"/>
          </a:p>
          <a:p>
            <a:pPr lvl="1"/>
            <a:r>
              <a:rPr lang="en-US" altLang="ko-KR" sz="2000" dirty="0"/>
              <a:t>bit-wise </a:t>
            </a:r>
            <a:r>
              <a:rPr lang="ko-KR" altLang="en-US" sz="2000" dirty="0"/>
              <a:t>복사</a:t>
            </a:r>
            <a:r>
              <a:rPr lang="en-US" altLang="ko-KR" sz="2000" dirty="0"/>
              <a:t>. </a:t>
            </a:r>
            <a:r>
              <a:rPr lang="ko-KR" altLang="en-US" sz="2000" dirty="0"/>
              <a:t>객체가 참조 필드</a:t>
            </a:r>
            <a:r>
              <a:rPr lang="en-US" altLang="ko-KR" sz="2000" dirty="0"/>
              <a:t>(</a:t>
            </a:r>
            <a:r>
              <a:rPr lang="ko-KR" altLang="en-US" sz="2000" dirty="0"/>
              <a:t>포인터</a:t>
            </a:r>
            <a:r>
              <a:rPr lang="en-US" altLang="ko-KR" sz="2000" dirty="0"/>
              <a:t>/</a:t>
            </a:r>
            <a:r>
              <a:rPr lang="ko-KR" altLang="en-US" sz="2000" dirty="0"/>
              <a:t>레퍼런스</a:t>
            </a:r>
            <a:r>
              <a:rPr lang="en-US" altLang="ko-KR" sz="2000" dirty="0"/>
              <a:t>)</a:t>
            </a:r>
            <a:r>
              <a:rPr lang="ko-KR" altLang="en-US" sz="2000" dirty="0"/>
              <a:t>를 갖는 경우 원본과 복사본이 참조되는 메모리 주소를 공유한다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ko-KR" altLang="en-US" sz="2000" dirty="0"/>
              <a:t>깊은 복사</a:t>
            </a:r>
            <a:endParaRPr lang="en-US" altLang="ko-KR" sz="2000" dirty="0"/>
          </a:p>
          <a:p>
            <a:pPr lvl="1"/>
            <a:r>
              <a:rPr lang="ko-KR" altLang="en-US" sz="2000" dirty="0"/>
              <a:t>참조되는 메모리 공간도 복사하여 완전히 독립된 복사본을 만드는 복사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877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73420" y="2204864"/>
            <a:ext cx="9710464" cy="4188123"/>
          </a:xfrm>
        </p:spPr>
        <p:txBody>
          <a:bodyPr>
            <a:noAutofit/>
          </a:bodyPr>
          <a:lstStyle/>
          <a:p>
            <a:r>
              <a:rPr lang="ko-KR" altLang="en-US" sz="1800" dirty="0">
                <a:latin typeface="+mn-lt"/>
              </a:rPr>
              <a:t>요구사항</a:t>
            </a:r>
            <a:endParaRPr lang="en-US" altLang="ko-KR" sz="1800" dirty="0">
              <a:latin typeface="+mn-lt"/>
            </a:endParaRPr>
          </a:p>
          <a:p>
            <a:pPr lvl="1"/>
            <a:r>
              <a:rPr lang="en-US" altLang="ko-KR" sz="1800" dirty="0" err="1">
                <a:latin typeface="+mn-lt"/>
              </a:rPr>
              <a:t>dynamicArray</a:t>
            </a:r>
            <a:r>
              <a:rPr lang="en-US" altLang="ko-KR" sz="1800" dirty="0">
                <a:latin typeface="+mn-lt"/>
              </a:rPr>
              <a:t> </a:t>
            </a:r>
            <a:r>
              <a:rPr lang="ko-KR" altLang="en-US" sz="1800" dirty="0">
                <a:latin typeface="+mn-lt"/>
              </a:rPr>
              <a:t>클래스 생성 </a:t>
            </a:r>
            <a:r>
              <a:rPr lang="en-US" altLang="ko-KR" sz="1800" dirty="0">
                <a:latin typeface="+mn-lt"/>
              </a:rPr>
              <a:t>&lt;</a:t>
            </a:r>
            <a:r>
              <a:rPr lang="en-US" altLang="ko-KR" sz="1800" dirty="0" err="1">
                <a:latin typeface="+mn-lt"/>
              </a:rPr>
              <a:t>dynamicArray.h</a:t>
            </a:r>
            <a:r>
              <a:rPr lang="en-US" altLang="ko-KR" sz="1800" dirty="0">
                <a:latin typeface="+mn-lt"/>
              </a:rPr>
              <a:t>  dynamicArray.cpp  main.cpp&gt;</a:t>
            </a:r>
          </a:p>
          <a:p>
            <a:pPr lvl="1"/>
            <a:r>
              <a:rPr lang="ko-KR" altLang="en-US" sz="1800" dirty="0">
                <a:latin typeface="+mn-lt"/>
              </a:rPr>
              <a:t>배열에 데이터가 </a:t>
            </a:r>
            <a:r>
              <a:rPr lang="ko-KR" altLang="en-US" sz="1800" dirty="0" err="1">
                <a:latin typeface="+mn-lt"/>
              </a:rPr>
              <a:t>가득찬</a:t>
            </a:r>
            <a:r>
              <a:rPr lang="ko-KR" altLang="en-US" sz="1800" dirty="0">
                <a:latin typeface="+mn-lt"/>
              </a:rPr>
              <a:t> 경우</a:t>
            </a:r>
            <a:r>
              <a:rPr lang="en-US" altLang="ko-KR" sz="1800" dirty="0">
                <a:latin typeface="+mn-lt"/>
              </a:rPr>
              <a:t>,</a:t>
            </a:r>
            <a:r>
              <a:rPr lang="ko-KR" altLang="en-US" sz="1800" dirty="0">
                <a:latin typeface="+mn-lt"/>
              </a:rPr>
              <a:t> 기존 배열 크기를 </a:t>
            </a:r>
            <a:r>
              <a:rPr lang="en-US" altLang="ko-KR" sz="1800" dirty="0">
                <a:latin typeface="+mn-lt"/>
              </a:rPr>
              <a:t>2</a:t>
            </a:r>
            <a:r>
              <a:rPr lang="ko-KR" altLang="en-US" sz="1800" dirty="0">
                <a:latin typeface="+mn-lt"/>
              </a:rPr>
              <a:t>배로 증가시키는 배열</a:t>
            </a:r>
            <a:endParaRPr lang="en-US" altLang="ko-KR" sz="1800" b="1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초기에 생성자를 통해 배열 크기를 정한다</a:t>
            </a:r>
            <a:r>
              <a:rPr lang="en-US" altLang="ko-KR" sz="1800" dirty="0">
                <a:latin typeface="+mn-lt"/>
              </a:rPr>
              <a:t>. (</a:t>
            </a:r>
            <a:r>
              <a:rPr lang="ko-KR" altLang="en-US" sz="1800" dirty="0">
                <a:latin typeface="+mn-lt"/>
              </a:rPr>
              <a:t>디폴트 생성자일 경우 배열 크기</a:t>
            </a:r>
            <a:r>
              <a:rPr lang="en-US" altLang="ko-KR" sz="1800" dirty="0">
                <a:latin typeface="+mn-lt"/>
              </a:rPr>
              <a:t>=1)</a:t>
            </a:r>
          </a:p>
          <a:p>
            <a:pPr lvl="1"/>
            <a:r>
              <a:rPr lang="en-US" altLang="ko-KR" sz="1800" dirty="0">
                <a:latin typeface="+mn-lt"/>
              </a:rPr>
              <a:t>pop, push, print </a:t>
            </a:r>
            <a:r>
              <a:rPr lang="ko-KR" altLang="en-US" sz="1800" dirty="0">
                <a:latin typeface="+mn-lt"/>
              </a:rPr>
              <a:t>함수를 갖는다</a:t>
            </a:r>
            <a:r>
              <a:rPr lang="en-US" altLang="ko-KR" sz="1800" dirty="0">
                <a:latin typeface="+mn-lt"/>
              </a:rPr>
              <a:t>.</a:t>
            </a:r>
            <a:br>
              <a:rPr lang="en-US" altLang="ko-KR" sz="1800" dirty="0">
                <a:latin typeface="+mn-lt"/>
              </a:rPr>
            </a:br>
            <a:r>
              <a:rPr lang="en-US" altLang="ko-KR" sz="1600" dirty="0">
                <a:latin typeface="+mn-lt"/>
              </a:rPr>
              <a:t>pop: </a:t>
            </a:r>
            <a:r>
              <a:rPr lang="ko-KR" altLang="en-US" sz="1600" dirty="0">
                <a:latin typeface="+mn-lt"/>
              </a:rPr>
              <a:t>뒤에서부터 데이터를 제거 </a:t>
            </a:r>
            <a:r>
              <a:rPr lang="en-US" altLang="ko-KR" sz="1600" dirty="0">
                <a:latin typeface="+mn-lt"/>
              </a:rPr>
              <a:t>(</a:t>
            </a:r>
            <a:r>
              <a:rPr lang="ko-KR" altLang="en-US" sz="1600" dirty="0">
                <a:latin typeface="+mn-lt"/>
              </a:rPr>
              <a:t>배열크기 또한 하나씩 작게</a:t>
            </a:r>
            <a:r>
              <a:rPr lang="en-US" altLang="ko-KR" sz="1600" dirty="0">
                <a:latin typeface="+mn-lt"/>
              </a:rPr>
              <a:t>)</a:t>
            </a:r>
            <a:br>
              <a:rPr lang="en-US" altLang="ko-KR" sz="1600" dirty="0">
                <a:latin typeface="+mn-lt"/>
              </a:rPr>
            </a:br>
            <a:r>
              <a:rPr lang="en-US" altLang="ko-KR" sz="1600" dirty="0">
                <a:latin typeface="+mn-lt"/>
              </a:rPr>
              <a:t>push: </a:t>
            </a:r>
            <a:r>
              <a:rPr lang="ko-KR" altLang="en-US" sz="1600" dirty="0">
                <a:latin typeface="+mn-lt"/>
              </a:rPr>
              <a:t>뒤에서부터 데이터를 추가 </a:t>
            </a:r>
            <a:r>
              <a:rPr lang="en-US" altLang="ko-KR" sz="1600" dirty="0">
                <a:latin typeface="+mn-lt"/>
              </a:rPr>
              <a:t>(</a:t>
            </a:r>
            <a:r>
              <a:rPr lang="ko-KR" altLang="en-US" sz="1600" dirty="0">
                <a:latin typeface="+mn-lt"/>
              </a:rPr>
              <a:t>배열이 가득차면 배열크기 </a:t>
            </a:r>
            <a:r>
              <a:rPr lang="en-US" altLang="ko-KR" sz="1600" dirty="0">
                <a:latin typeface="+mn-lt"/>
              </a:rPr>
              <a:t>2</a:t>
            </a:r>
            <a:r>
              <a:rPr lang="ko-KR" altLang="en-US" sz="1600" dirty="0">
                <a:latin typeface="+mn-lt"/>
              </a:rPr>
              <a:t>배로 증가</a:t>
            </a:r>
            <a:r>
              <a:rPr lang="en-US" altLang="ko-KR" sz="1600" dirty="0">
                <a:latin typeface="+mn-lt"/>
              </a:rPr>
              <a:t>)</a:t>
            </a:r>
            <a:br>
              <a:rPr lang="en-US" altLang="ko-KR" sz="1600" dirty="0">
                <a:latin typeface="+mn-lt"/>
              </a:rPr>
            </a:br>
            <a:r>
              <a:rPr lang="en-US" altLang="ko-KR" sz="1600" dirty="0">
                <a:latin typeface="+mn-lt"/>
              </a:rPr>
              <a:t>print: </a:t>
            </a:r>
            <a:r>
              <a:rPr lang="ko-KR" altLang="en-US" sz="1600" dirty="0">
                <a:latin typeface="+mn-lt"/>
              </a:rPr>
              <a:t>배열의 모든 데이터를 출력</a:t>
            </a:r>
            <a:endParaRPr lang="en-US" altLang="ko-KR" sz="16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연산자 오버로딩을 통하여 하나의 객체를 배열처럼 사용 가능하게 구현</a:t>
            </a:r>
            <a:br>
              <a:rPr lang="en-US" altLang="ko-KR" sz="1800" dirty="0">
                <a:latin typeface="+mn-lt"/>
              </a:rPr>
            </a:br>
            <a:endParaRPr lang="en-US" altLang="ko-KR" sz="1800" dirty="0">
              <a:latin typeface="+mn-lt"/>
            </a:endParaRPr>
          </a:p>
          <a:p>
            <a:pPr lvl="1"/>
            <a:r>
              <a:rPr lang="ko-KR" altLang="en-US" sz="1800" dirty="0">
                <a:latin typeface="+mn-lt"/>
              </a:rPr>
              <a:t>가능한 모든 예외처리를 시도해주시기 바랍니다</a:t>
            </a:r>
            <a:r>
              <a:rPr lang="en-US" altLang="ko-KR" sz="1800" dirty="0">
                <a:latin typeface="+mn-lt"/>
              </a:rPr>
              <a:t>.</a:t>
            </a:r>
          </a:p>
          <a:p>
            <a:pPr lvl="1"/>
            <a:r>
              <a:rPr lang="ko-KR" altLang="en-US" sz="1800" dirty="0">
                <a:latin typeface="+mn-lt"/>
              </a:rPr>
              <a:t>다음 페이지에 있는 코드 참고</a:t>
            </a:r>
            <a:endParaRPr lang="en-US" altLang="ko-KR" sz="1800" dirty="0">
              <a:latin typeface="+mn-lt"/>
            </a:endParaRPr>
          </a:p>
          <a:p>
            <a:pPr lvl="1"/>
            <a:endParaRPr lang="en-US" altLang="ko-KR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동적 할당을 사용한 </a:t>
            </a:r>
            <a:r>
              <a:rPr lang="en-US" altLang="ko-KR" sz="2800" b="1" dirty="0"/>
              <a:t>Dynamic Array </a:t>
            </a:r>
            <a:r>
              <a:rPr lang="ko-KR" altLang="en-US" sz="2800" b="1" dirty="0"/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242519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/>
              <a:t>동적 할당을 사용한 </a:t>
            </a:r>
            <a:r>
              <a:rPr lang="en-US" altLang="ko-KR" sz="2800" b="1" dirty="0"/>
              <a:t>Dynamic Array </a:t>
            </a:r>
            <a:r>
              <a:rPr lang="ko-KR" altLang="en-US" sz="2800" b="1" dirty="0"/>
              <a:t>구현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9135" y="2000720"/>
            <a:ext cx="8229600" cy="4525963"/>
          </a:xfrm>
        </p:spPr>
        <p:txBody>
          <a:bodyPr/>
          <a:lstStyle/>
          <a:p>
            <a:r>
              <a:rPr lang="en-US" altLang="ko-KR" dirty="0"/>
              <a:t>push </a:t>
            </a:r>
            <a:r>
              <a:rPr lang="ko-KR" altLang="en-US" dirty="0"/>
              <a:t>함수 예시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pop </a:t>
            </a:r>
            <a:r>
              <a:rPr lang="ko-KR" altLang="en-US" dirty="0"/>
              <a:t>함수 예시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99592" y="2924944"/>
            <a:ext cx="792088" cy="7920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99592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4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691680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483768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275856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067944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860032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652120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444208" y="5309993"/>
            <a:ext cx="792088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691680" y="2924944"/>
            <a:ext cx="792088" cy="792088"/>
          </a:xfrm>
          <a:prstGeom prst="rect">
            <a:avLst/>
          </a:prstGeom>
          <a:solidFill>
            <a:srgbClr val="90AFD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483768" y="2924944"/>
            <a:ext cx="792088" cy="792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75856" y="2924944"/>
            <a:ext cx="792088" cy="792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067944" y="2924944"/>
            <a:ext cx="792088" cy="7920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860032" y="2924944"/>
            <a:ext cx="792088" cy="7920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57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652120" y="2924944"/>
            <a:ext cx="792088" cy="7920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79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444208" y="2924944"/>
            <a:ext cx="792088" cy="7920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89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dynamicArray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구현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764704"/>
            <a:ext cx="4176464" cy="51915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1826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39552" y="1244786"/>
            <a:ext cx="4248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/>
              <a:t>dynamicArray</a:t>
            </a:r>
            <a:r>
              <a:rPr lang="en-US" altLang="ko-KR" sz="2800" b="1" dirty="0"/>
              <a:t> </a:t>
            </a:r>
            <a:r>
              <a:rPr lang="ko-KR" altLang="en-US" sz="2800" b="1" dirty="0"/>
              <a:t>구현</a:t>
            </a:r>
            <a:br>
              <a:rPr lang="en-US" altLang="ko-KR" sz="2800" b="1" dirty="0"/>
            </a:br>
            <a:r>
              <a:rPr lang="en-US" altLang="ko-KR" b="1" dirty="0"/>
              <a:t>(</a:t>
            </a:r>
            <a:r>
              <a:rPr lang="ko-KR" altLang="en-US" b="1" dirty="0"/>
              <a:t>다음 </a:t>
            </a:r>
            <a:r>
              <a:rPr lang="en-US" altLang="ko-KR" b="1" dirty="0"/>
              <a:t>main</a:t>
            </a:r>
            <a:r>
              <a:rPr lang="ko-KR" altLang="en-US" b="1" dirty="0"/>
              <a:t>함수 코드가 동작하도록</a:t>
            </a:r>
            <a:r>
              <a:rPr lang="en-US" altLang="ko-KR" b="1" dirty="0"/>
              <a:t>)</a:t>
            </a:r>
            <a:endParaRPr lang="ko-KR" altLang="en-US" sz="28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975" y="764704"/>
            <a:ext cx="4134427" cy="50965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15" y="2492896"/>
            <a:ext cx="3980720" cy="2381428"/>
          </a:xfrm>
          <a:prstGeom prst="rect">
            <a:avLst/>
          </a:prstGeom>
        </p:spPr>
      </p:pic>
      <p:sp>
        <p:nvSpPr>
          <p:cNvPr id="9" name="타원 8"/>
          <p:cNvSpPr/>
          <p:nvPr/>
        </p:nvSpPr>
        <p:spPr>
          <a:xfrm>
            <a:off x="5508104" y="5085184"/>
            <a:ext cx="792088" cy="7761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547975" y="330648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main.cpp </a:t>
            </a:r>
            <a:r>
              <a:rPr lang="ko-KR" altLang="en-US" dirty="0"/>
              <a:t>코드</a:t>
            </a:r>
          </a:p>
        </p:txBody>
      </p:sp>
    </p:spTree>
    <p:extLst>
      <p:ext uri="{BB962C8B-B14F-4D97-AF65-F5344CB8AC3E}">
        <p14:creationId xmlns:p14="http://schemas.microsoft.com/office/powerpoint/2010/main" val="390098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53752"/>
            <a:ext cx="7632848" cy="1143000"/>
          </a:xfrm>
        </p:spPr>
        <p:txBody>
          <a:bodyPr>
            <a:normAutofit/>
          </a:bodyPr>
          <a:lstStyle/>
          <a:p>
            <a:pPr algn="l"/>
            <a:r>
              <a:rPr lang="ko-KR" altLang="en-US" sz="4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과제 주의사항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02114-8B7A-4408-B8CB-F3C50019E68F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1628800"/>
            <a:ext cx="882047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꼭 프로젝트 폴더 전체를 압축하여 제출하세요</a:t>
            </a:r>
            <a:r>
              <a:rPr lang="en-US" altLang="ko-KR" b="1" dirty="0"/>
              <a:t>. </a:t>
            </a:r>
            <a:r>
              <a:rPr lang="en-US" altLang="ko-KR" b="1" dirty="0">
                <a:solidFill>
                  <a:srgbClr val="FF0000"/>
                </a:solidFill>
              </a:rPr>
              <a:t>(</a:t>
            </a:r>
            <a:r>
              <a:rPr lang="ko-KR" altLang="en-US" b="1" dirty="0">
                <a:solidFill>
                  <a:srgbClr val="FF0000"/>
                </a:solidFill>
              </a:rPr>
              <a:t>학번</a:t>
            </a:r>
            <a:r>
              <a:rPr lang="en-US" altLang="ko-KR" b="1" dirty="0">
                <a:solidFill>
                  <a:srgbClr val="FF0000"/>
                </a:solidFill>
              </a:rPr>
              <a:t>_</a:t>
            </a:r>
            <a:r>
              <a:rPr lang="ko-KR" altLang="en-US" b="1" dirty="0">
                <a:solidFill>
                  <a:srgbClr val="FF0000"/>
                </a:solidFill>
              </a:rPr>
              <a:t>이름</a:t>
            </a:r>
            <a:r>
              <a:rPr lang="en-US" altLang="ko-KR" b="1" dirty="0">
                <a:solidFill>
                  <a:srgbClr val="FF0000"/>
                </a:solidFill>
              </a:rPr>
              <a:t>).zip</a:t>
            </a:r>
            <a:r>
              <a:rPr lang="en-US" altLang="ko-KR" b="1" dirty="0"/>
              <a:t> </a:t>
            </a:r>
            <a:r>
              <a:rPr lang="ko-KR" altLang="en-US" b="1" dirty="0"/>
              <a:t>형태로 제출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주석 처리 해주시기 바랍니다</a:t>
            </a:r>
            <a:r>
              <a:rPr lang="en-US" altLang="ko-KR" b="1" dirty="0"/>
              <a:t>. </a:t>
            </a:r>
            <a:r>
              <a:rPr lang="ko-KR" altLang="en-US" b="1" dirty="0"/>
              <a:t>없을 시에 감점</a:t>
            </a:r>
            <a:r>
              <a:rPr lang="en-US" altLang="ko-KR" b="1" dirty="0"/>
              <a:t>.|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제출 시간이 </a:t>
            </a:r>
            <a:r>
              <a:rPr lang="en-US" altLang="ko-KR" b="1" dirty="0"/>
              <a:t>11</a:t>
            </a:r>
            <a:r>
              <a:rPr lang="ko-KR" altLang="en-US" b="1" dirty="0"/>
              <a:t>시</a:t>
            </a:r>
            <a:r>
              <a:rPr lang="en-US" altLang="ko-KR" b="1" dirty="0"/>
              <a:t>59</a:t>
            </a:r>
            <a:r>
              <a:rPr lang="ko-KR" altLang="en-US" b="1" dirty="0"/>
              <a:t>분</a:t>
            </a:r>
            <a:r>
              <a:rPr lang="en-US" altLang="ko-KR" b="1" dirty="0"/>
              <a:t>59</a:t>
            </a:r>
            <a:r>
              <a:rPr lang="ko-KR" altLang="en-US" b="1" dirty="0"/>
              <a:t>초에서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초라도 늦으면 불인정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과제 성적 문의는 상담시간을 참고하여 하이테크 </a:t>
            </a:r>
            <a:r>
              <a:rPr lang="en-US" altLang="ko-KR" b="1" dirty="0"/>
              <a:t>1307</a:t>
            </a:r>
            <a:r>
              <a:rPr lang="ko-KR" altLang="en-US" b="1" dirty="0"/>
              <a:t>호로 오세요</a:t>
            </a:r>
            <a:r>
              <a:rPr lang="en-US" altLang="ko-KR" b="1" dirty="0"/>
              <a:t>.</a:t>
            </a:r>
            <a:br>
              <a:rPr lang="en-US" altLang="ko-KR" b="1" dirty="0"/>
            </a:br>
            <a:r>
              <a:rPr lang="en-US" altLang="ko-KR" sz="1600" b="1" dirty="0"/>
              <a:t>(</a:t>
            </a:r>
            <a:r>
              <a:rPr lang="ko-KR" altLang="en-US" sz="1600" b="1" dirty="0"/>
              <a:t>정말 이건 감점 사유가 아니다 싶은 것만 오시길 바랍니다</a:t>
            </a:r>
            <a:r>
              <a:rPr lang="en-US" altLang="ko-KR" sz="1600" b="1" dirty="0"/>
              <a:t>.)</a:t>
            </a:r>
            <a:br>
              <a:rPr lang="en-US" altLang="ko-KR" b="1" dirty="0"/>
            </a:br>
            <a:br>
              <a:rPr lang="en-US" altLang="ko-KR" b="1" dirty="0"/>
            </a:br>
            <a:br>
              <a:rPr lang="en-US" altLang="ko-KR" sz="1400" b="1" dirty="0"/>
            </a:b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40478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2087</TotalTime>
  <Words>176</Words>
  <Application>Microsoft Office PowerPoint</Application>
  <PresentationFormat>화면 슬라이드 쇼(4:3)</PresentationFormat>
  <Paragraphs>72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 Unicode MS</vt:lpstr>
      <vt:lpstr>맑은 고딕</vt:lpstr>
      <vt:lpstr>Arial</vt:lpstr>
      <vt:lpstr>Tahoma</vt:lpstr>
      <vt:lpstr>Times New Roman</vt:lpstr>
      <vt:lpstr>Office 테마</vt:lpstr>
      <vt:lpstr>디자인 사용자 지정</vt:lpstr>
      <vt:lpstr>Object-oriented Programming</vt:lpstr>
      <vt:lpstr>연산자 오버로딩</vt:lpstr>
      <vt:lpstr>얕은 / 깊은 복사</vt:lpstr>
      <vt:lpstr>과제</vt:lpstr>
      <vt:lpstr>과제</vt:lpstr>
      <vt:lpstr>과제</vt:lpstr>
      <vt:lpstr>과제</vt:lpstr>
      <vt:lpstr>과제 주의사항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</dc:title>
  <dc:creator>Hanju</dc:creator>
  <cp:lastModifiedBy>Zzan</cp:lastModifiedBy>
  <cp:revision>211</cp:revision>
  <cp:lastPrinted>2015-10-28T23:12:44Z</cp:lastPrinted>
  <dcterms:created xsi:type="dcterms:W3CDTF">2012-06-15T20:49:53Z</dcterms:created>
  <dcterms:modified xsi:type="dcterms:W3CDTF">2016-10-06T02:54:41Z</dcterms:modified>
</cp:coreProperties>
</file>