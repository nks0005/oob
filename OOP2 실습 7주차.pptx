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5"/>
  </p:notesMasterIdLst>
  <p:handoutMasterIdLst>
    <p:handoutMasterId r:id="rId26"/>
  </p:handoutMasterIdLst>
  <p:sldIdLst>
    <p:sldId id="291" r:id="rId3"/>
    <p:sldId id="356" r:id="rId4"/>
    <p:sldId id="286" r:id="rId5"/>
    <p:sldId id="358" r:id="rId6"/>
    <p:sldId id="357" r:id="rId7"/>
    <p:sldId id="359" r:id="rId8"/>
    <p:sldId id="360" r:id="rId9"/>
    <p:sldId id="361" r:id="rId10"/>
    <p:sldId id="368" r:id="rId11"/>
    <p:sldId id="369" r:id="rId12"/>
    <p:sldId id="370" r:id="rId13"/>
    <p:sldId id="371" r:id="rId14"/>
    <p:sldId id="372" r:id="rId15"/>
    <p:sldId id="362" r:id="rId16"/>
    <p:sldId id="363" r:id="rId17"/>
    <p:sldId id="365" r:id="rId18"/>
    <p:sldId id="364" r:id="rId19"/>
    <p:sldId id="366" r:id="rId20"/>
    <p:sldId id="373" r:id="rId21"/>
    <p:sldId id="367" r:id="rId22"/>
    <p:sldId id="284" r:id="rId23"/>
    <p:sldId id="306" r:id="rId24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4991" autoAdjust="0"/>
  </p:normalViewPr>
  <p:slideViewPr>
    <p:cSldViewPr>
      <p:cViewPr varScale="1">
        <p:scale>
          <a:sx n="65" d="100"/>
          <a:sy n="65" d="100"/>
        </p:scale>
        <p:origin x="188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2016-10-13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2016-10-13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198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346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74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596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097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2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4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971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900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773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154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20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62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039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927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734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485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7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187624" y="3933056"/>
            <a:ext cx="6696744" cy="2079104"/>
          </a:xfrm>
        </p:spPr>
        <p:txBody>
          <a:bodyPr>
            <a:noAutofit/>
          </a:bodyPr>
          <a:lstStyle/>
          <a:p>
            <a:pPr algn="r"/>
            <a:r>
              <a:rPr lang="ko-KR" altLang="en-US" sz="120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상속</a:t>
            </a:r>
            <a:endParaRPr lang="ko-KR" altLang="en-US" sz="120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0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(Inheritance)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이란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06358" y="1389046"/>
            <a:ext cx="8586122" cy="225597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부모 클래스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자식 클래스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부모의 특징들을 자식이 상속 받는다</a:t>
            </a:r>
            <a:r>
              <a:rPr lang="en-US" altLang="ko-KR" sz="2400" b="1" dirty="0"/>
              <a:t>!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클래스 속성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행동들을 물려 받아 쓰므로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여러 이점이 있음</a:t>
            </a:r>
            <a:endParaRPr lang="en-US" altLang="ko-KR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59632" y="3645024"/>
            <a:ext cx="2016224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기초  </a:t>
            </a:r>
            <a:r>
              <a:rPr lang="en-US" altLang="ko-KR" sz="2400" b="1" dirty="0"/>
              <a:t>Base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슈퍼  </a:t>
            </a:r>
            <a:r>
              <a:rPr lang="en-US" altLang="ko-KR" sz="2400" b="1" dirty="0"/>
              <a:t>Super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부모  </a:t>
            </a:r>
            <a:r>
              <a:rPr lang="en-US" altLang="ko-KR" sz="2400" b="1" dirty="0"/>
              <a:t>Parent</a:t>
            </a:r>
            <a:endParaRPr lang="ko-KR" alt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085298" y="3645024"/>
            <a:ext cx="2150997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유도  </a:t>
            </a:r>
            <a:r>
              <a:rPr lang="en-US" altLang="ko-KR" sz="2400" b="1" dirty="0"/>
              <a:t>Derived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서브  </a:t>
            </a:r>
            <a:r>
              <a:rPr lang="en-US" altLang="ko-KR" sz="2400" b="1" dirty="0"/>
              <a:t>Sub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자식  </a:t>
            </a:r>
            <a:r>
              <a:rPr lang="en-US" altLang="ko-KR" sz="2400" b="1" dirty="0"/>
              <a:t>Child</a:t>
            </a:r>
            <a:endParaRPr lang="ko-KR" altLang="en-US" sz="2400" b="1" dirty="0"/>
          </a:p>
        </p:txBody>
      </p:sp>
      <p:sp>
        <p:nvSpPr>
          <p:cNvPr id="8" name="화살표: 왼쪽 7"/>
          <p:cNvSpPr/>
          <p:nvPr/>
        </p:nvSpPr>
        <p:spPr>
          <a:xfrm>
            <a:off x="3347864" y="4464888"/>
            <a:ext cx="1665426" cy="27865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(Inheritance)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이란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96752"/>
            <a:ext cx="4968552" cy="2440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760" y="3892482"/>
            <a:ext cx="3261368" cy="26464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714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06358" y="1389046"/>
            <a:ext cx="8572560" cy="44162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간결한 클래스의 작성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ko-KR" altLang="en-US" sz="2000" dirty="0"/>
              <a:t>중복된 코드를 상속을 통하여 간단하게 사용</a:t>
            </a:r>
            <a:r>
              <a:rPr lang="ko-KR" altLang="en-US" sz="2400" b="1" dirty="0"/>
              <a:t> 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클래스 간의 계층적 분류 및 관리의 용이성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ko-KR" altLang="en-US" sz="2000" dirty="0"/>
              <a:t>클래스들의 구조적인 관계 파악</a:t>
            </a:r>
            <a:r>
              <a:rPr lang="ko-KR" altLang="en-US" sz="2400" b="1" dirty="0"/>
              <a:t> 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클래스 재사용과 확장을 통한 소프트웨어의 생산성 향상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ko-KR" altLang="en-US" sz="2000" dirty="0"/>
              <a:t>기존에 작성된 클래스를 활용하여 새로운 소프트웨어를 쉽고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en-US" sz="2000" dirty="0"/>
              <a:t>빠르게 만들어낼 수 있도록 합니다</a:t>
            </a:r>
            <a:r>
              <a:rPr lang="en-US" altLang="ko-KR" sz="2000" dirty="0"/>
              <a:t>.</a:t>
            </a:r>
            <a:r>
              <a:rPr lang="ko-KR" altLang="en-US" sz="2800" b="1" dirty="0"/>
              <a:t> 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80071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999902"/>
            <a:ext cx="2349579" cy="53694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518" y="968678"/>
            <a:ext cx="3403282" cy="5373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왼쪽 6"/>
          <p:cNvSpPr/>
          <p:nvPr/>
        </p:nvSpPr>
        <p:spPr>
          <a:xfrm rot="10800000">
            <a:off x="3565267" y="3405954"/>
            <a:ext cx="1665426" cy="27865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082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Picture 3" descr="AAEMYRT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4" y="908720"/>
            <a:ext cx="84518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/>
        </p:nvSpPr>
        <p:spPr bwMode="auto">
          <a:xfrm>
            <a:off x="346074" y="5673725"/>
            <a:ext cx="868362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ko-KR" sz="2400" dirty="0">
                <a:solidFill>
                  <a:srgbClr val="4D99FF"/>
                </a:solidFill>
                <a:ea typeface="굴림" panose="020B0600000101010101" pitchFamily="50" charset="-127"/>
              </a:rPr>
              <a:t>Fig. 11.2</a:t>
            </a:r>
            <a:r>
              <a:rPr lang="en-US" altLang="ko-KR" sz="2400" dirty="0">
                <a:solidFill>
                  <a:srgbClr val="4F87C6"/>
                </a:solidFill>
                <a:latin typeface="Goudy Sans Medium" pitchFamily="34" charset="0"/>
                <a:ea typeface="굴림" panose="020B0600000101010101" pitchFamily="50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| Inheritance hierarchy for university </a:t>
            </a:r>
            <a:r>
              <a:rPr lang="en-US" altLang="ko-KR" sz="24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CommunityMember</a:t>
            </a:r>
            <a:r>
              <a:rPr lang="en-US" altLang="ko-KR" sz="2400" dirty="0" err="1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8027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Picture 3" descr="AAEMYRU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7" y="2055812"/>
            <a:ext cx="8670925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30599" y="5049043"/>
            <a:ext cx="86836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ko-KR" sz="2400">
                <a:solidFill>
                  <a:srgbClr val="4D99FF"/>
                </a:solidFill>
                <a:ea typeface="굴림" panose="020B0600000101010101" pitchFamily="50" charset="-127"/>
              </a:rPr>
              <a:t>Fig. 11.3</a:t>
            </a:r>
            <a:r>
              <a:rPr lang="en-US" altLang="ko-KR" sz="2400">
                <a:solidFill>
                  <a:srgbClr val="4F87C6"/>
                </a:solidFill>
                <a:latin typeface="Goudy Sans Medium" pitchFamily="34" charset="0"/>
                <a:ea typeface="굴림" panose="020B0600000101010101" pitchFamily="50" charset="-127"/>
              </a:rPr>
              <a:t> </a:t>
            </a:r>
            <a:r>
              <a:rPr lang="en-US" altLang="ko-KR" sz="2400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| Inheritance hierarchy for </a:t>
            </a:r>
            <a:r>
              <a:rPr lang="en-US" altLang="ko-KR" sz="240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Shape</a:t>
            </a:r>
            <a:r>
              <a:rPr lang="en-US" altLang="ko-KR" sz="2400">
                <a:solidFill>
                  <a:srgbClr val="000000"/>
                </a:solidFill>
                <a:latin typeface="Lucida Console" panose="020B0609040504020204" pitchFamily="49" charset="0"/>
                <a:ea typeface="굴림" panose="020B0600000101010101" pitchFamily="50" charset="-127"/>
                <a:cs typeface="Times New Roman" panose="02020603050405020304" pitchFamily="18" charset="0"/>
              </a:rPr>
              <a:t>s</a:t>
            </a:r>
            <a:r>
              <a:rPr lang="en-US" altLang="ko-KR" sz="2400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47223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015603"/>
            <a:ext cx="4272890" cy="57058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735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10463"/>
            <a:ext cx="6120680" cy="48537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956" y="562602"/>
            <a:ext cx="4392488" cy="1751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642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971600" y="1202353"/>
            <a:ext cx="7348616" cy="4836383"/>
            <a:chOff x="535752" y="1201848"/>
            <a:chExt cx="7348616" cy="4836383"/>
          </a:xfrm>
        </p:grpSpPr>
        <p:sp>
          <p:nvSpPr>
            <p:cNvPr id="5" name="직사각형 4"/>
            <p:cNvSpPr/>
            <p:nvPr/>
          </p:nvSpPr>
          <p:spPr>
            <a:xfrm>
              <a:off x="541824" y="1717751"/>
              <a:ext cx="2734032" cy="4320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사각형: 둥근 모서리 5"/>
            <p:cNvSpPr/>
            <p:nvPr/>
          </p:nvSpPr>
          <p:spPr>
            <a:xfrm>
              <a:off x="764000" y="1825763"/>
              <a:ext cx="1440160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age</a:t>
              </a:r>
              <a:endParaRPr lang="ko-KR" altLang="en-US" dirty="0"/>
            </a:p>
          </p:txBody>
        </p:sp>
        <p:sp>
          <p:nvSpPr>
            <p:cNvPr id="7" name="사각형: 둥근 모서리 6"/>
            <p:cNvSpPr/>
            <p:nvPr/>
          </p:nvSpPr>
          <p:spPr>
            <a:xfrm>
              <a:off x="750640" y="2383825"/>
              <a:ext cx="1440160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</a:t>
              </a:r>
              <a:endParaRPr lang="ko-KR" altLang="en-US" dirty="0"/>
            </a:p>
          </p:txBody>
        </p:sp>
        <p:sp>
          <p:nvSpPr>
            <p:cNvPr id="8" name="사각형: 둥근 모서리 7"/>
            <p:cNvSpPr/>
            <p:nvPr/>
          </p:nvSpPr>
          <p:spPr>
            <a:xfrm>
              <a:off x="750640" y="2941887"/>
              <a:ext cx="2239456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sleep( )</a:t>
              </a:r>
              <a:endParaRPr lang="ko-KR" altLang="en-US" dirty="0"/>
            </a:p>
          </p:txBody>
        </p:sp>
        <p:sp>
          <p:nvSpPr>
            <p:cNvPr id="9" name="사각형: 둥근 모서리 8"/>
            <p:cNvSpPr/>
            <p:nvPr/>
          </p:nvSpPr>
          <p:spPr>
            <a:xfrm>
              <a:off x="750640" y="3491173"/>
              <a:ext cx="2239456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eat( )</a:t>
              </a:r>
              <a:endParaRPr lang="ko-KR" altLang="en-US" dirty="0"/>
            </a:p>
          </p:txBody>
        </p:sp>
        <p:sp>
          <p:nvSpPr>
            <p:cNvPr id="10" name="사각형: 둥근 모서리 9"/>
            <p:cNvSpPr/>
            <p:nvPr/>
          </p:nvSpPr>
          <p:spPr>
            <a:xfrm>
              <a:off x="750640" y="4040459"/>
              <a:ext cx="2239456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showinfo</a:t>
              </a:r>
              <a:r>
                <a:rPr lang="en-US" altLang="ko-KR" dirty="0"/>
                <a:t>( )</a:t>
              </a:r>
              <a:endParaRPr lang="ko-KR" altLang="en-US" dirty="0"/>
            </a:p>
          </p:txBody>
        </p:sp>
        <p:sp>
          <p:nvSpPr>
            <p:cNvPr id="11" name="사각형: 둥근 모서리 10"/>
            <p:cNvSpPr/>
            <p:nvPr/>
          </p:nvSpPr>
          <p:spPr>
            <a:xfrm>
              <a:off x="764000" y="4787317"/>
              <a:ext cx="1426800" cy="50405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school</a:t>
              </a:r>
              <a:endParaRPr lang="ko-KR" altLang="en-US" dirty="0"/>
            </a:p>
          </p:txBody>
        </p:sp>
        <p:sp>
          <p:nvSpPr>
            <p:cNvPr id="12" name="사각형: 둥근 모서리 11"/>
            <p:cNvSpPr/>
            <p:nvPr/>
          </p:nvSpPr>
          <p:spPr>
            <a:xfrm>
              <a:off x="764000" y="5369228"/>
              <a:ext cx="2226096" cy="50405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schoolinfo</a:t>
              </a:r>
              <a:r>
                <a:rPr lang="en-US" altLang="ko-KR" dirty="0"/>
                <a:t>( )</a:t>
              </a:r>
              <a:endParaRPr lang="ko-KR" alt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5752" y="1210856"/>
              <a:ext cx="3168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Student </a:t>
              </a:r>
              <a:r>
                <a:rPr lang="ko-KR" altLang="en-US" sz="2400" b="1" dirty="0"/>
                <a:t>객체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572000" y="1695500"/>
              <a:ext cx="3312368" cy="302964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200" dirty="0">
                  <a:solidFill>
                    <a:schemeClr val="tx1"/>
                  </a:solidFill>
                </a:rPr>
                <a:t>    </a:t>
              </a:r>
              <a:r>
                <a:rPr lang="ko-KR" altLang="en-US" sz="2400" dirty="0">
                  <a:solidFill>
                    <a:schemeClr val="tx1"/>
                  </a:solidFill>
                </a:rPr>
                <a:t>상속받은</a:t>
              </a:r>
              <a:endParaRPr lang="en-US" altLang="ko-KR" sz="2400" dirty="0">
                <a:solidFill>
                  <a:schemeClr val="tx1"/>
                </a:solidFill>
              </a:endParaRPr>
            </a:p>
            <a:p>
              <a:r>
                <a:rPr lang="en-US" altLang="ko-KR" sz="2400" dirty="0">
                  <a:solidFill>
                    <a:schemeClr val="tx1"/>
                  </a:solidFill>
                </a:rPr>
                <a:t>    Human </a:t>
              </a:r>
              <a:r>
                <a:rPr lang="ko-KR" altLang="en-US" sz="2400" dirty="0">
                  <a:solidFill>
                    <a:schemeClr val="tx1"/>
                  </a:solidFill>
                </a:rPr>
                <a:t>클래스의</a:t>
              </a:r>
              <a:endParaRPr lang="en-US" altLang="ko-KR" sz="2400" dirty="0">
                <a:solidFill>
                  <a:schemeClr val="tx1"/>
                </a:solidFill>
              </a:endParaRPr>
            </a:p>
            <a:p>
              <a:r>
                <a:rPr lang="ko-KR" altLang="en-US" sz="2400" dirty="0">
                  <a:solidFill>
                    <a:schemeClr val="tx1"/>
                  </a:solidFill>
                </a:rPr>
                <a:t>    멤버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572000" y="4787316"/>
              <a:ext cx="3312368" cy="12509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200" dirty="0">
                  <a:solidFill>
                    <a:schemeClr val="tx1"/>
                  </a:solidFill>
                </a:rPr>
                <a:t>     </a:t>
              </a:r>
              <a:r>
                <a:rPr lang="en-US" altLang="ko-KR" sz="2400" dirty="0">
                  <a:solidFill>
                    <a:schemeClr val="tx1"/>
                  </a:solidFill>
                </a:rPr>
                <a:t>Student</a:t>
              </a:r>
            </a:p>
            <a:p>
              <a:r>
                <a:rPr lang="en-US" altLang="ko-KR" sz="2400" dirty="0">
                  <a:solidFill>
                    <a:schemeClr val="tx1"/>
                  </a:solidFill>
                </a:rPr>
                <a:t>    </a:t>
              </a:r>
              <a:r>
                <a:rPr lang="ko-KR" altLang="en-US" sz="2400" dirty="0">
                  <a:solidFill>
                    <a:schemeClr val="tx1"/>
                  </a:solidFill>
                </a:rPr>
                <a:t>클래스의 멤버</a:t>
              </a:r>
            </a:p>
          </p:txBody>
        </p:sp>
        <p:sp>
          <p:nvSpPr>
            <p:cNvPr id="17" name="화살표: 오른쪽 16"/>
            <p:cNvSpPr/>
            <p:nvPr/>
          </p:nvSpPr>
          <p:spPr>
            <a:xfrm>
              <a:off x="3500622" y="2077300"/>
              <a:ext cx="855353" cy="55961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오른쪽 18"/>
            <p:cNvSpPr/>
            <p:nvPr/>
          </p:nvSpPr>
          <p:spPr>
            <a:xfrm>
              <a:off x="3500622" y="2886332"/>
              <a:ext cx="855353" cy="55961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화살표: 오른쪽 19"/>
            <p:cNvSpPr/>
            <p:nvPr/>
          </p:nvSpPr>
          <p:spPr>
            <a:xfrm>
              <a:off x="3491881" y="3695364"/>
              <a:ext cx="855353" cy="55961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화살표: 오른쪽 20"/>
            <p:cNvSpPr/>
            <p:nvPr/>
          </p:nvSpPr>
          <p:spPr>
            <a:xfrm>
              <a:off x="3500622" y="5105778"/>
              <a:ext cx="855353" cy="559611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84593" y="1201848"/>
              <a:ext cx="3168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Student </a:t>
              </a:r>
              <a:r>
                <a:rPr lang="ko-KR" altLang="en-US" sz="2400" b="1" dirty="0"/>
                <a:t>객체의 구성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44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상속된 객체의 생성과 소멸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48" y="1160944"/>
            <a:ext cx="6820852" cy="48489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528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96752"/>
            <a:ext cx="7382905" cy="4877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상속된 객체의 생성과 소멸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986059"/>
            <a:ext cx="2505999" cy="2010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640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조건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(is-a vs has-a)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21724" y="1412776"/>
            <a:ext cx="8572560" cy="494357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“is-a” </a:t>
            </a:r>
            <a:r>
              <a:rPr lang="ko-KR" altLang="en-US" b="1" dirty="0"/>
              <a:t>관계</a:t>
            </a:r>
            <a:endParaRPr lang="en-US" altLang="ko-KR" b="1" dirty="0"/>
          </a:p>
          <a:p>
            <a:pPr lvl="1"/>
            <a:r>
              <a:rPr lang="en-US" altLang="ko-KR" sz="2400" b="1" dirty="0"/>
              <a:t>Inheritance</a:t>
            </a:r>
          </a:p>
          <a:p>
            <a:pPr lvl="1"/>
            <a:r>
              <a:rPr lang="en-US" altLang="ko-KR" sz="2400" b="1" dirty="0"/>
              <a:t>“~</a:t>
            </a:r>
            <a:r>
              <a:rPr lang="ko-KR" altLang="en-US" sz="2400" b="1" dirty="0"/>
              <a:t>은 </a:t>
            </a:r>
            <a:r>
              <a:rPr lang="en-US" altLang="ko-KR" sz="2400" b="1" dirty="0"/>
              <a:t>~</a:t>
            </a:r>
            <a:r>
              <a:rPr lang="ko-KR" altLang="en-US" sz="2400" b="1" dirty="0"/>
              <a:t>이다</a:t>
            </a:r>
            <a:r>
              <a:rPr lang="en-US" altLang="ko-KR" sz="2400" b="1" dirty="0"/>
              <a:t>”</a:t>
            </a:r>
            <a:r>
              <a:rPr lang="ko-KR" altLang="en-US" sz="2400" b="1" dirty="0"/>
              <a:t> 라는 관계를 성립</a:t>
            </a:r>
            <a:br>
              <a:rPr lang="en-US" altLang="ko-KR" sz="2400" b="1" dirty="0"/>
            </a:br>
            <a:r>
              <a:rPr lang="en-US" altLang="ko-KR" sz="2400" b="1" dirty="0"/>
              <a:t>	: Car </a:t>
            </a:r>
            <a:r>
              <a:rPr lang="en-US" altLang="ko-KR" sz="2400" b="1" i="1" dirty="0"/>
              <a:t>is a</a:t>
            </a:r>
            <a:r>
              <a:rPr lang="en-US" altLang="ko-KR" sz="2400" b="1" dirty="0"/>
              <a:t> vehicle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“has-a” </a:t>
            </a:r>
            <a:r>
              <a:rPr lang="ko-KR" altLang="en-US" b="1" dirty="0"/>
              <a:t>관계</a:t>
            </a:r>
            <a:endParaRPr lang="en-US" altLang="ko-KR" b="1" dirty="0"/>
          </a:p>
          <a:p>
            <a:pPr lvl="1"/>
            <a:r>
              <a:rPr lang="en-US" altLang="ko-KR" sz="2400" b="1" dirty="0"/>
              <a:t>Composition</a:t>
            </a:r>
          </a:p>
          <a:p>
            <a:pPr lvl="1"/>
            <a:r>
              <a:rPr lang="en-US" altLang="ko-KR" sz="2400" b="1" dirty="0"/>
              <a:t>“~</a:t>
            </a:r>
            <a:r>
              <a:rPr lang="ko-KR" altLang="en-US" sz="2400" b="1" dirty="0"/>
              <a:t>은</a:t>
            </a:r>
            <a:r>
              <a:rPr lang="en-US" altLang="ko-KR" sz="2400" b="1" dirty="0"/>
              <a:t> ~</a:t>
            </a:r>
            <a:r>
              <a:rPr lang="ko-KR" altLang="en-US" sz="2400" b="1" dirty="0"/>
              <a:t>를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갖고 있다</a:t>
            </a:r>
            <a:r>
              <a:rPr lang="en-US" altLang="ko-KR" sz="2400" b="1" dirty="0"/>
              <a:t>”</a:t>
            </a:r>
            <a:r>
              <a:rPr lang="ko-KR" altLang="en-US" sz="2400" b="1" dirty="0"/>
              <a:t> 라는 관계를 성립</a:t>
            </a:r>
            <a:br>
              <a:rPr lang="en-US" altLang="ko-KR" sz="2400" b="1" dirty="0"/>
            </a:br>
            <a:r>
              <a:rPr lang="en-US" altLang="ko-KR" sz="2400" b="1" dirty="0"/>
              <a:t>	: Car </a:t>
            </a:r>
            <a:r>
              <a:rPr lang="en-US" altLang="ko-KR" sz="2400" b="1" i="1" dirty="0"/>
              <a:t>has a </a:t>
            </a:r>
            <a:r>
              <a:rPr lang="en-US" altLang="ko-KR" sz="2400" b="1" dirty="0"/>
              <a:t>steering wheel</a:t>
            </a:r>
          </a:p>
        </p:txBody>
      </p:sp>
    </p:spTree>
    <p:extLst>
      <p:ext uri="{BB962C8B-B14F-4D97-AF65-F5344CB8AC3E}">
        <p14:creationId xmlns:p14="http://schemas.microsoft.com/office/powerpoint/2010/main" val="660265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is-a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21724" y="1412776"/>
            <a:ext cx="8572560" cy="225597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Person is a student</a:t>
            </a:r>
            <a:br>
              <a:rPr lang="en-US" altLang="ko-KR" sz="2000" b="1" dirty="0"/>
            </a:br>
            <a:r>
              <a:rPr lang="en-US" altLang="ko-KR" sz="2000" b="1" dirty="0"/>
              <a:t>	: </a:t>
            </a:r>
            <a:r>
              <a:rPr lang="ko-KR" altLang="en-US" sz="2000" b="1" dirty="0"/>
              <a:t>사람은 학생이다</a:t>
            </a:r>
            <a:r>
              <a:rPr lang="en-US" altLang="ko-KR" sz="2000" b="1" dirty="0"/>
              <a:t>. </a:t>
            </a:r>
            <a:r>
              <a:rPr lang="ko-KR" altLang="en-US" sz="2000" b="1" dirty="0">
                <a:solidFill>
                  <a:srgbClr val="FF0000"/>
                </a:solidFill>
              </a:rPr>
              <a:t>이것은 성립 되지 않는다</a:t>
            </a:r>
            <a:r>
              <a:rPr lang="en-US" altLang="ko-KR" sz="2000" b="1" dirty="0">
                <a:solidFill>
                  <a:srgbClr val="FF0000"/>
                </a:solidFill>
              </a:rPr>
              <a:t>!</a:t>
            </a:r>
            <a:br>
              <a:rPr lang="en-US" altLang="ko-KR" sz="2000" b="1" dirty="0"/>
            </a:br>
            <a:endParaRPr lang="en-US" altLang="ko-KR" sz="2000" b="1" dirty="0"/>
          </a:p>
          <a:p>
            <a:r>
              <a:rPr lang="en-US" altLang="ko-KR" sz="2800" b="1" dirty="0"/>
              <a:t>Student is a person </a:t>
            </a:r>
            <a:br>
              <a:rPr lang="en-US" altLang="ko-KR" sz="2000" b="1" dirty="0"/>
            </a:br>
            <a:r>
              <a:rPr lang="en-US" altLang="ko-KR" sz="2000" b="1" dirty="0"/>
              <a:t>	: </a:t>
            </a:r>
            <a:r>
              <a:rPr lang="ko-KR" altLang="en-US" sz="2000" b="1" dirty="0"/>
              <a:t>학생은 사람이다</a:t>
            </a:r>
            <a:r>
              <a:rPr lang="en-US" altLang="ko-KR" sz="2000" b="1" dirty="0"/>
              <a:t>. </a:t>
            </a:r>
            <a:r>
              <a:rPr lang="ko-KR" altLang="en-US" sz="2000" b="1" dirty="0">
                <a:solidFill>
                  <a:srgbClr val="FF0000"/>
                </a:solidFill>
              </a:rPr>
              <a:t>이것은 성립된다</a:t>
            </a:r>
            <a:r>
              <a:rPr lang="en-US" altLang="ko-KR" sz="2000" b="1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18" y="2350196"/>
            <a:ext cx="1318153" cy="196794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55" y="1596926"/>
            <a:ext cx="1286245" cy="273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7360" y="4670485"/>
            <a:ext cx="7776864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/>
              <a:t>“</a:t>
            </a:r>
            <a:r>
              <a:rPr lang="ko-KR" altLang="en-US" b="1" dirty="0"/>
              <a:t>상속 관계가 있을 때</a:t>
            </a:r>
            <a:r>
              <a:rPr lang="en-US" altLang="ko-KR" b="1" dirty="0"/>
              <a:t>, </a:t>
            </a:r>
            <a:r>
              <a:rPr lang="ko-KR" altLang="en-US" b="1" dirty="0"/>
              <a:t>아래로 갈수록 구체화 또는 특수화</a:t>
            </a:r>
            <a:r>
              <a:rPr lang="en-US" altLang="ko-KR" b="1" dirty="0"/>
              <a:t>(specialization) </a:t>
            </a:r>
            <a:r>
              <a:rPr lang="ko-KR" altLang="en-US" b="1" dirty="0"/>
              <a:t>되어 지고</a:t>
            </a:r>
            <a:r>
              <a:rPr lang="en-US" altLang="ko-KR" b="1" dirty="0"/>
              <a:t>, </a:t>
            </a:r>
            <a:r>
              <a:rPr lang="ko-KR" altLang="en-US" b="1" dirty="0"/>
              <a:t>올라갈수록 보다 일반화</a:t>
            </a:r>
            <a:r>
              <a:rPr lang="en-US" altLang="ko-KR" b="1" dirty="0"/>
              <a:t>(generalization) </a:t>
            </a:r>
            <a:r>
              <a:rPr lang="ko-KR" altLang="en-US" b="1" dirty="0"/>
              <a:t>되어 진다</a:t>
            </a:r>
            <a:r>
              <a:rPr lang="en-US" altLang="ko-KR" b="1" dirty="0"/>
              <a:t>.”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72406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976140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has-a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관계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(composition)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화살표: 위로 굽음 6"/>
          <p:cNvSpPr/>
          <p:nvPr/>
        </p:nvSpPr>
        <p:spPr>
          <a:xfrm>
            <a:off x="6084168" y="4869160"/>
            <a:ext cx="1564820" cy="1152128"/>
          </a:xfrm>
          <a:prstGeom prst="bent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/>
          <p:cNvSpPr txBox="1">
            <a:spLocks/>
          </p:cNvSpPr>
          <p:nvPr/>
        </p:nvSpPr>
        <p:spPr>
          <a:xfrm>
            <a:off x="321724" y="1052736"/>
            <a:ext cx="8572560" cy="225597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has – a </a:t>
            </a:r>
            <a:r>
              <a:rPr lang="ko-KR" altLang="en-US" sz="1800" b="1" dirty="0"/>
              <a:t>관계는 상속의 형태가 아닌 </a:t>
            </a:r>
            <a:r>
              <a:rPr lang="ko-KR" altLang="en-US" sz="1800" b="1" dirty="0">
                <a:solidFill>
                  <a:srgbClr val="FF0000"/>
                </a:solidFill>
              </a:rPr>
              <a:t>객체 멤버에 의한 포함관계</a:t>
            </a:r>
            <a:r>
              <a:rPr lang="ko-KR" altLang="en-US" sz="1800" b="1" dirty="0"/>
              <a:t>로 표현 가능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1" y="1426622"/>
            <a:ext cx="4866713" cy="4941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직사각형 25"/>
          <p:cNvSpPr/>
          <p:nvPr/>
        </p:nvSpPr>
        <p:spPr>
          <a:xfrm>
            <a:off x="5722324" y="1484784"/>
            <a:ext cx="3242164" cy="31683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938348" y="1916832"/>
            <a:ext cx="2736304" cy="2592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938348" y="154750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pol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6226380" y="2465996"/>
            <a:ext cx="1287760" cy="12301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154372" y="206530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peacekeeper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88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has-a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관계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(cont.)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1724" y="1124744"/>
            <a:ext cx="8572560" cy="225597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객체 포인터 멤버에 의한 포함 관계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sp>
        <p:nvSpPr>
          <p:cNvPr id="7" name="화살표: 위로 굽음 6"/>
          <p:cNvSpPr/>
          <p:nvPr/>
        </p:nvSpPr>
        <p:spPr>
          <a:xfrm>
            <a:off x="6067420" y="5013176"/>
            <a:ext cx="1564820" cy="1152128"/>
          </a:xfrm>
          <a:prstGeom prst="bent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50" y="1551567"/>
            <a:ext cx="4331162" cy="4790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/>
          <p:cNvSpPr/>
          <p:nvPr/>
        </p:nvSpPr>
        <p:spPr>
          <a:xfrm>
            <a:off x="5580112" y="1652250"/>
            <a:ext cx="3386180" cy="31683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796136" y="2612084"/>
            <a:ext cx="1224136" cy="1296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96136" y="2242752"/>
            <a:ext cx="64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pol</a:t>
            </a:r>
            <a:endParaRPr lang="ko-KR" alt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7308304" y="1850476"/>
            <a:ext cx="0" cy="27454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68144" y="1743133"/>
            <a:ext cx="102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Stack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40352" y="1743133"/>
            <a:ext cx="102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Heap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6136" y="2661035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peace</a:t>
            </a:r>
          </a:p>
          <a:p>
            <a:r>
              <a:rPr lang="en-US" altLang="ko-KR" dirty="0"/>
              <a:t>keeper*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7740352" y="2609480"/>
            <a:ext cx="791162" cy="771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6732240" y="2984200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29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 가지 형태의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276683"/>
              </p:ext>
            </p:extLst>
          </p:nvPr>
        </p:nvGraphicFramePr>
        <p:xfrm>
          <a:off x="539552" y="1772816"/>
          <a:ext cx="8280920" cy="388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0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       </a:t>
                      </a:r>
                      <a:r>
                        <a:rPr lang="ko-KR" altLang="en-US" sz="1600" dirty="0"/>
                        <a:t>상속 형태</a:t>
                      </a:r>
                      <a:endParaRPr lang="en-US" altLang="ko-KR" sz="1600" dirty="0"/>
                    </a:p>
                    <a:p>
                      <a:pPr latinLnBrk="1"/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600" dirty="0"/>
                        <a:t>Base </a:t>
                      </a:r>
                      <a:r>
                        <a:rPr lang="ko-KR" altLang="en-US" sz="1400" dirty="0"/>
                        <a:t>클래스</a:t>
                      </a:r>
                      <a:endParaRPr lang="ko-KR" altLang="en-US" sz="2000" dirty="0"/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 public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상속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protected </a:t>
                      </a:r>
                      <a:r>
                        <a:rPr lang="ko-KR" altLang="en-US" sz="1600" dirty="0"/>
                        <a:t>상속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aseline="0" dirty="0"/>
                        <a:t> p</a:t>
                      </a:r>
                      <a:r>
                        <a:rPr lang="en-US" altLang="ko-KR" sz="1600" dirty="0"/>
                        <a:t>rivate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상속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2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/>
                        <a:t>public </a:t>
                      </a:r>
                      <a:r>
                        <a:rPr lang="ko-KR" altLang="en-US" b="1" dirty="0"/>
                        <a:t>멤버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public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protected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private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2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/>
                        <a:t>protected </a:t>
                      </a:r>
                      <a:r>
                        <a:rPr lang="ko-KR" altLang="en-US" b="1" dirty="0"/>
                        <a:t>멤버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protected</a:t>
                      </a:r>
                      <a:endParaRPr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protected</a:t>
                      </a:r>
                      <a:endParaRPr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private</a:t>
                      </a:r>
                      <a:endParaRPr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2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/>
                        <a:t>private</a:t>
                      </a:r>
                      <a:r>
                        <a:rPr lang="en-US" altLang="ko-KR" b="1" baseline="0" dirty="0"/>
                        <a:t> </a:t>
                      </a:r>
                      <a:r>
                        <a:rPr lang="ko-KR" altLang="en-US" b="1" baseline="0" dirty="0"/>
                        <a:t>멤버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접근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접근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접근 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70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AAEMZIZ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296" y="1196752"/>
            <a:ext cx="6336704" cy="513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 가지 형태의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74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900100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 가지 형태의 상속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(ex.)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28" y="1340768"/>
            <a:ext cx="3390900" cy="4695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108728" y="1340768"/>
            <a:ext cx="42484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접근 권한이 더 좁은 것으로 맞춰짐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36720" y="1969095"/>
            <a:ext cx="2196244" cy="30777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private </a:t>
            </a:r>
            <a:r>
              <a:rPr lang="ko-KR" altLang="en-US" sz="1400" b="1" dirty="0">
                <a:solidFill>
                  <a:schemeClr val="bg1"/>
                </a:solidFill>
              </a:rPr>
              <a:t>상속의 경우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5104706" y="2249193"/>
            <a:ext cx="3510390" cy="929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36720" y="3645024"/>
            <a:ext cx="2196244" cy="30777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public </a:t>
            </a:r>
            <a:r>
              <a:rPr lang="ko-KR" altLang="en-US" sz="1400" b="1" dirty="0">
                <a:solidFill>
                  <a:schemeClr val="bg1"/>
                </a:solidFill>
              </a:rPr>
              <a:t>상속의 경우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 flipV="1">
            <a:off x="5104706" y="3925383"/>
            <a:ext cx="3510390" cy="929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/>
          <p:cNvSpPr txBox="1">
            <a:spLocks/>
          </p:cNvSpPr>
          <p:nvPr/>
        </p:nvSpPr>
        <p:spPr>
          <a:xfrm>
            <a:off x="4036720" y="2464544"/>
            <a:ext cx="4824536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err="1"/>
              <a:t>int</a:t>
            </a:r>
            <a:r>
              <a:rPr lang="en-US" altLang="ko-KR" sz="1400" b="1" dirty="0"/>
              <a:t> b, </a:t>
            </a:r>
            <a:r>
              <a:rPr lang="en-US" altLang="ko-KR" sz="1400" b="1" dirty="0" err="1"/>
              <a:t>int</a:t>
            </a:r>
            <a:r>
              <a:rPr lang="en-US" altLang="ko-KR" sz="1400" b="1" dirty="0"/>
              <a:t> c : </a:t>
            </a:r>
            <a:r>
              <a:rPr lang="ko-KR" altLang="en-US" sz="1400" b="1" dirty="0"/>
              <a:t>이 둘은 </a:t>
            </a:r>
            <a:r>
              <a:rPr lang="en-US" altLang="ko-KR" sz="1400" b="1" dirty="0"/>
              <a:t>private</a:t>
            </a:r>
            <a:r>
              <a:rPr lang="ko-KR" altLang="en-US" sz="1400" b="1" dirty="0"/>
              <a:t>보다 범위가 넓으니</a:t>
            </a:r>
            <a:r>
              <a:rPr lang="en-US" altLang="ko-KR" sz="1400" b="1" dirty="0"/>
              <a:t>,</a:t>
            </a:r>
            <a:br>
              <a:rPr lang="en-US" altLang="ko-KR" sz="1400" b="1" dirty="0"/>
            </a:br>
            <a:r>
              <a:rPr lang="en-US" altLang="ko-KR" sz="1400" b="1" dirty="0"/>
              <a:t>	        private</a:t>
            </a:r>
            <a:r>
              <a:rPr lang="ko-KR" altLang="en-US" sz="1400" b="1" dirty="0"/>
              <a:t>로 맞춰진다</a:t>
            </a:r>
            <a:r>
              <a:rPr lang="en-US" altLang="ko-KR" sz="1400" b="1" dirty="0"/>
              <a:t>.</a:t>
            </a:r>
          </a:p>
          <a:p>
            <a:r>
              <a:rPr lang="en-US" altLang="ko-KR" sz="1400" b="1" dirty="0" err="1"/>
              <a:t>int</a:t>
            </a:r>
            <a:r>
              <a:rPr lang="en-US" altLang="ko-KR" sz="1400" b="1" dirty="0"/>
              <a:t> a : Base </a:t>
            </a:r>
            <a:r>
              <a:rPr lang="ko-KR" altLang="en-US" sz="1400" b="1" dirty="0"/>
              <a:t>클래스에서 </a:t>
            </a:r>
            <a:r>
              <a:rPr lang="en-US" altLang="ko-KR" sz="1400" b="1" dirty="0"/>
              <a:t>private</a:t>
            </a:r>
            <a:r>
              <a:rPr lang="ko-KR" altLang="en-US" sz="1400" b="1" dirty="0"/>
              <a:t>로 선언된 멤버는</a:t>
            </a:r>
            <a:br>
              <a:rPr lang="en-US" altLang="ko-KR" sz="1400" b="1" dirty="0"/>
            </a:br>
            <a:r>
              <a:rPr lang="en-US" altLang="ko-KR" sz="1400" b="1" dirty="0"/>
              <a:t>	</a:t>
            </a:r>
            <a:r>
              <a:rPr lang="ko-KR" altLang="en-US" sz="1400" b="1" dirty="0"/>
              <a:t>접근 불가</a:t>
            </a:r>
            <a:r>
              <a:rPr lang="en-US" altLang="ko-KR" sz="1400" b="1" dirty="0"/>
              <a:t>! 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4036720" y="4168152"/>
            <a:ext cx="4824536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err="1"/>
              <a:t>int</a:t>
            </a:r>
            <a:r>
              <a:rPr lang="en-US" altLang="ko-KR" sz="1400" b="1" dirty="0"/>
              <a:t> c : </a:t>
            </a:r>
            <a:r>
              <a:rPr lang="ko-KR" altLang="en-US" sz="1400" b="1" dirty="0"/>
              <a:t>범위가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같으므로 같은 </a:t>
            </a:r>
            <a:r>
              <a:rPr lang="en-US" altLang="ko-KR" sz="1400" b="1" dirty="0"/>
              <a:t>public</a:t>
            </a:r>
            <a:r>
              <a:rPr lang="ko-KR" altLang="en-US" sz="1400" b="1" dirty="0"/>
              <a:t>으로</a:t>
            </a:r>
            <a:r>
              <a:rPr lang="en-US" altLang="ko-KR" sz="1400" b="1" dirty="0"/>
              <a:t> </a:t>
            </a:r>
            <a:br>
              <a:rPr lang="en-US" altLang="ko-KR" sz="1400" b="1" dirty="0"/>
            </a:br>
            <a:endParaRPr lang="en-US" altLang="ko-KR" sz="1400" b="1" dirty="0"/>
          </a:p>
          <a:p>
            <a:r>
              <a:rPr lang="en-US" altLang="ko-KR" sz="1400" b="1" dirty="0" err="1"/>
              <a:t>int</a:t>
            </a:r>
            <a:r>
              <a:rPr lang="en-US" altLang="ko-KR" sz="1400" b="1" dirty="0"/>
              <a:t> b : public</a:t>
            </a:r>
            <a:r>
              <a:rPr lang="ko-KR" altLang="en-US" sz="1400" b="1" dirty="0"/>
              <a:t>보다 범위가 작으니 </a:t>
            </a:r>
            <a:r>
              <a:rPr lang="en-US" altLang="ko-KR" sz="1400" b="1" dirty="0"/>
              <a:t>protected</a:t>
            </a:r>
            <a:br>
              <a:rPr lang="en-US" altLang="ko-KR" sz="1400" b="1" dirty="0"/>
            </a:br>
            <a:endParaRPr lang="en-US" altLang="ko-KR" sz="1400" b="1" dirty="0"/>
          </a:p>
          <a:p>
            <a:r>
              <a:rPr lang="en-US" altLang="ko-KR" sz="1400" b="1" dirty="0" err="1"/>
              <a:t>int</a:t>
            </a:r>
            <a:r>
              <a:rPr lang="en-US" altLang="ko-KR" sz="1400" b="1" dirty="0"/>
              <a:t> a : Base </a:t>
            </a:r>
            <a:r>
              <a:rPr lang="ko-KR" altLang="en-US" sz="1400" b="1" dirty="0"/>
              <a:t>클래스에서 </a:t>
            </a:r>
            <a:r>
              <a:rPr lang="en-US" altLang="ko-KR" sz="1400" b="1" dirty="0"/>
              <a:t>private</a:t>
            </a:r>
            <a:r>
              <a:rPr lang="ko-KR" altLang="en-US" sz="1400" b="1" dirty="0"/>
              <a:t>로 선언된 멤버는</a:t>
            </a:r>
            <a:br>
              <a:rPr lang="en-US" altLang="ko-KR" sz="1400" b="1" dirty="0"/>
            </a:br>
            <a:r>
              <a:rPr lang="en-US" altLang="ko-KR" sz="1400" b="1" dirty="0"/>
              <a:t>	</a:t>
            </a:r>
            <a:r>
              <a:rPr lang="ko-KR" altLang="en-US" sz="1400" b="1" dirty="0"/>
              <a:t>접근 불가</a:t>
            </a:r>
            <a:r>
              <a:rPr lang="en-US" altLang="ko-KR" sz="1400" b="1" dirty="0"/>
              <a:t>!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1320" y="6224265"/>
            <a:ext cx="562706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?</a:t>
            </a:r>
            <a:r>
              <a:rPr lang="ko-KR" altLang="en-US" b="1" dirty="0"/>
              <a:t>보다 접근 범위가 넓은 멤버는 </a:t>
            </a:r>
            <a:r>
              <a:rPr lang="en-US" altLang="ko-KR" b="1" dirty="0"/>
              <a:t>?</a:t>
            </a:r>
            <a:r>
              <a:rPr lang="ko-KR" altLang="en-US" b="1" dirty="0"/>
              <a:t>로 변경시켜서 상속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907704" y="4005064"/>
            <a:ext cx="40838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?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3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3420" y="2204864"/>
            <a:ext cx="9710464" cy="4188123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Point </a:t>
            </a:r>
            <a:r>
              <a:rPr lang="ko-KR" altLang="en-US" sz="1800" dirty="0">
                <a:latin typeface="+mn-lt"/>
              </a:rPr>
              <a:t>클래스와 이를 상속 받은 </a:t>
            </a:r>
            <a:r>
              <a:rPr lang="en-US" altLang="ko-KR" sz="1800" dirty="0">
                <a:latin typeface="+mn-lt"/>
              </a:rPr>
              <a:t>Circle </a:t>
            </a:r>
            <a:r>
              <a:rPr lang="ko-KR" altLang="en-US" sz="1800" dirty="0">
                <a:latin typeface="+mn-lt"/>
              </a:rPr>
              <a:t>클래스 구현 </a:t>
            </a:r>
            <a:r>
              <a:rPr lang="en-US" altLang="ko-KR" sz="1800" dirty="0">
                <a:latin typeface="+mn-lt"/>
              </a:rPr>
              <a:t>(</a:t>
            </a:r>
            <a:r>
              <a:rPr lang="ko-KR" altLang="en-US" sz="1800" dirty="0">
                <a:latin typeface="+mn-lt"/>
              </a:rPr>
              <a:t>구현파일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헤더파일 구분</a:t>
            </a:r>
            <a:r>
              <a:rPr lang="en-US" altLang="ko-KR" sz="1800" dirty="0">
                <a:latin typeface="+mn-lt"/>
              </a:rPr>
              <a:t>)</a:t>
            </a:r>
          </a:p>
          <a:p>
            <a:pPr lvl="1"/>
            <a:r>
              <a:rPr lang="en-US" altLang="ko-KR" sz="1800" dirty="0">
                <a:latin typeface="+mn-lt"/>
              </a:rPr>
              <a:t>Point </a:t>
            </a:r>
            <a:r>
              <a:rPr lang="ko-KR" altLang="en-US" sz="1800" dirty="0">
                <a:latin typeface="+mn-lt"/>
              </a:rPr>
              <a:t>클래스는 </a:t>
            </a:r>
            <a:r>
              <a:rPr lang="en-US" altLang="ko-KR" sz="1800" dirty="0">
                <a:latin typeface="+mn-lt"/>
              </a:rPr>
              <a:t>private </a:t>
            </a:r>
            <a:r>
              <a:rPr lang="ko-KR" altLang="en-US" sz="1800" dirty="0">
                <a:latin typeface="+mn-lt"/>
              </a:rPr>
              <a:t>멤버 변수로 </a:t>
            </a:r>
            <a:r>
              <a:rPr lang="en-US" altLang="ko-KR" sz="1800" dirty="0">
                <a:latin typeface="+mn-lt"/>
              </a:rPr>
              <a:t>x</a:t>
            </a:r>
            <a:r>
              <a:rPr lang="ko-KR" altLang="en-US" sz="1800" dirty="0">
                <a:latin typeface="+mn-lt"/>
              </a:rPr>
              <a:t>축 </a:t>
            </a:r>
            <a:r>
              <a:rPr lang="en-US" altLang="ko-KR" sz="1800" dirty="0">
                <a:latin typeface="+mn-lt"/>
              </a:rPr>
              <a:t>y</a:t>
            </a:r>
            <a:r>
              <a:rPr lang="ko-KR" altLang="en-US" sz="1800" dirty="0">
                <a:latin typeface="+mn-lt"/>
              </a:rPr>
              <a:t>축을 저장할 수 있어야한다</a:t>
            </a:r>
            <a:r>
              <a:rPr lang="en-US" altLang="ko-KR" sz="1800" dirty="0">
                <a:latin typeface="+mn-lt"/>
              </a:rPr>
              <a:t>.</a:t>
            </a:r>
          </a:p>
          <a:p>
            <a:pPr lvl="1"/>
            <a:r>
              <a:rPr lang="en-US" altLang="ko-KR" sz="1800" dirty="0">
                <a:latin typeface="+mn-lt"/>
              </a:rPr>
              <a:t>Point </a:t>
            </a:r>
            <a:r>
              <a:rPr lang="ko-KR" altLang="en-US" sz="1800" dirty="0">
                <a:latin typeface="+mn-lt"/>
              </a:rPr>
              <a:t>클래스는 멤버 함수로 </a:t>
            </a:r>
            <a:r>
              <a:rPr lang="en-US" altLang="ko-KR" sz="1800" dirty="0">
                <a:latin typeface="+mn-lt"/>
              </a:rPr>
              <a:t>set, get </a:t>
            </a:r>
            <a:r>
              <a:rPr lang="ko-KR" altLang="en-US" sz="1800" dirty="0">
                <a:latin typeface="+mn-lt"/>
              </a:rPr>
              <a:t>함수를 갖는다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Circle </a:t>
            </a:r>
            <a:r>
              <a:rPr lang="ko-KR" altLang="en-US" sz="1800" dirty="0">
                <a:latin typeface="+mn-lt"/>
              </a:rPr>
              <a:t>클래스는 </a:t>
            </a:r>
            <a:r>
              <a:rPr lang="en-US" altLang="ko-KR" sz="1800" dirty="0">
                <a:latin typeface="+mn-lt"/>
              </a:rPr>
              <a:t>Point </a:t>
            </a:r>
            <a:r>
              <a:rPr lang="ko-KR" altLang="en-US" sz="1800" dirty="0">
                <a:latin typeface="+mn-lt"/>
              </a:rPr>
              <a:t>클래스를 </a:t>
            </a:r>
            <a:r>
              <a:rPr lang="en-US" altLang="ko-KR" sz="1800" dirty="0">
                <a:solidFill>
                  <a:srgbClr val="FF0000"/>
                </a:solidFill>
                <a:latin typeface="+mn-lt"/>
              </a:rPr>
              <a:t>private</a:t>
            </a:r>
            <a:r>
              <a:rPr lang="ko-KR" altLang="en-US" sz="1800" dirty="0">
                <a:latin typeface="+mn-lt"/>
              </a:rPr>
              <a:t>으로 상속 받는다</a:t>
            </a:r>
            <a:r>
              <a:rPr lang="en-US" altLang="ko-KR" sz="1800" dirty="0">
                <a:latin typeface="+mn-lt"/>
              </a:rPr>
              <a:t>.</a:t>
            </a:r>
          </a:p>
          <a:p>
            <a:pPr lvl="1"/>
            <a:r>
              <a:rPr lang="en-US" altLang="ko-KR" sz="1800" dirty="0">
                <a:latin typeface="+mn-lt"/>
              </a:rPr>
              <a:t>Circle </a:t>
            </a:r>
            <a:r>
              <a:rPr lang="ko-KR" altLang="en-US" sz="1800" dirty="0">
                <a:latin typeface="+mn-lt"/>
              </a:rPr>
              <a:t>클래스는 </a:t>
            </a:r>
            <a:r>
              <a:rPr lang="ko-KR" altLang="en-US" sz="1800" dirty="0"/>
              <a:t>반지름을 정하는 </a:t>
            </a:r>
            <a:r>
              <a:rPr lang="en-US" altLang="ko-KR" sz="1800" dirty="0"/>
              <a:t>set</a:t>
            </a:r>
            <a:r>
              <a:rPr lang="ko-KR" altLang="en-US" sz="1800" dirty="0"/>
              <a:t>함수를 갖는다</a:t>
            </a:r>
            <a:r>
              <a:rPr lang="en-US" altLang="ko-KR" sz="1800" dirty="0"/>
              <a:t>.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Circle </a:t>
            </a:r>
            <a:r>
              <a:rPr lang="ko-KR" altLang="en-US" sz="1800" dirty="0">
                <a:latin typeface="+mn-lt"/>
              </a:rPr>
              <a:t>클래스는 </a:t>
            </a:r>
            <a:r>
              <a:rPr lang="en-US" altLang="ko-KR" sz="1800" dirty="0">
                <a:latin typeface="+mn-lt"/>
              </a:rPr>
              <a:t>Point </a:t>
            </a:r>
            <a:r>
              <a:rPr lang="ko-KR" altLang="en-US" sz="1800" dirty="0">
                <a:latin typeface="+mn-lt"/>
              </a:rPr>
              <a:t>클래스 함수를 사용하여 원의 중심점을 정하는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center </a:t>
            </a:r>
            <a:r>
              <a:rPr lang="ko-KR" altLang="en-US" sz="1800" dirty="0">
                <a:latin typeface="+mn-lt"/>
              </a:rPr>
              <a:t>함수를 갖는다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입출력은 자유롭게 구현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주석 필수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주석 없을 시에 감점</a:t>
            </a:r>
            <a:endParaRPr lang="en-US" altLang="ko-KR" sz="1800" dirty="0">
              <a:latin typeface="+mn-lt"/>
            </a:endParaRPr>
          </a:p>
          <a:p>
            <a:pPr lvl="1"/>
            <a:endParaRPr lang="en-US" altLang="ko-KR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class</a:t>
            </a:r>
            <a:r>
              <a:rPr lang="ko-KR" altLang="en-US" sz="2800" b="1" dirty="0"/>
              <a:t>와 상속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653" y="1196752"/>
            <a:ext cx="4652689" cy="9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2298</TotalTime>
  <Words>388</Words>
  <Application>Microsoft Office PowerPoint</Application>
  <PresentationFormat>화면 슬라이드 쇼(4:3)</PresentationFormat>
  <Paragraphs>154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Arial Unicode MS</vt:lpstr>
      <vt:lpstr>Goudy Sans Medium</vt:lpstr>
      <vt:lpstr>굴림</vt:lpstr>
      <vt:lpstr>맑은 고딕</vt:lpstr>
      <vt:lpstr>Arial</vt:lpstr>
      <vt:lpstr>Lucida Console</vt:lpstr>
      <vt:lpstr>Tahoma</vt:lpstr>
      <vt:lpstr>Times New Roman</vt:lpstr>
      <vt:lpstr>Office 테마</vt:lpstr>
      <vt:lpstr>디자인 사용자 지정</vt:lpstr>
      <vt:lpstr>Object-oriented Programming</vt:lpstr>
      <vt:lpstr>상속</vt:lpstr>
      <vt:lpstr>상속(Inheritance)이란?</vt:lpstr>
      <vt:lpstr>상속(Inheritance)이란?</vt:lpstr>
      <vt:lpstr>상속의 장점</vt:lpstr>
      <vt:lpstr>상속의 장점</vt:lpstr>
      <vt:lpstr>상속의 장점</vt:lpstr>
      <vt:lpstr>상속의 장점</vt:lpstr>
      <vt:lpstr>상속의 방법</vt:lpstr>
      <vt:lpstr>상속의 방법</vt:lpstr>
      <vt:lpstr>상속의 방법</vt:lpstr>
      <vt:lpstr>상속된 객체의 생성과 소멸</vt:lpstr>
      <vt:lpstr>상속된 객체의 생성과 소멸</vt:lpstr>
      <vt:lpstr>상속의 조건 (is-a vs has-a)</vt:lpstr>
      <vt:lpstr>is-a 관계</vt:lpstr>
      <vt:lpstr>has-a 관계 (composition)</vt:lpstr>
      <vt:lpstr>has-a 관계 (cont.)</vt:lpstr>
      <vt:lpstr>세 가지 형태의 상속</vt:lpstr>
      <vt:lpstr>세 가지 형태의 상속</vt:lpstr>
      <vt:lpstr>세 가지 형태의 상속 (ex.)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232</cp:revision>
  <cp:lastPrinted>2015-10-28T23:12:44Z</cp:lastPrinted>
  <dcterms:created xsi:type="dcterms:W3CDTF">2012-06-15T20:49:53Z</dcterms:created>
  <dcterms:modified xsi:type="dcterms:W3CDTF">2016-10-12T15:28:27Z</dcterms:modified>
</cp:coreProperties>
</file>