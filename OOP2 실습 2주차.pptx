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21"/>
  </p:notesMasterIdLst>
  <p:handoutMasterIdLst>
    <p:handoutMasterId r:id="rId22"/>
  </p:handoutMasterIdLst>
  <p:sldIdLst>
    <p:sldId id="291" r:id="rId3"/>
    <p:sldId id="292" r:id="rId4"/>
    <p:sldId id="286" r:id="rId5"/>
    <p:sldId id="307" r:id="rId6"/>
    <p:sldId id="308" r:id="rId7"/>
    <p:sldId id="311" r:id="rId8"/>
    <p:sldId id="309" r:id="rId9"/>
    <p:sldId id="310" r:id="rId10"/>
    <p:sldId id="312" r:id="rId11"/>
    <p:sldId id="313" r:id="rId12"/>
    <p:sldId id="314" r:id="rId13"/>
    <p:sldId id="315" r:id="rId14"/>
    <p:sldId id="316" r:id="rId15"/>
    <p:sldId id="317" r:id="rId16"/>
    <p:sldId id="319" r:id="rId17"/>
    <p:sldId id="318" r:id="rId18"/>
    <p:sldId id="284" r:id="rId19"/>
    <p:sldId id="306" r:id="rId20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3" autoAdjust="0"/>
    <p:restoredTop sz="82021" autoAdjust="0"/>
  </p:normalViewPr>
  <p:slideViewPr>
    <p:cSldViewPr>
      <p:cViewPr varScale="1">
        <p:scale>
          <a:sx n="62" d="100"/>
          <a:sy n="62" d="100"/>
        </p:scale>
        <p:origin x="1974" y="6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E3874-7BFA-4E6E-BE86-60B30CE4A117}" type="datetimeFigureOut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2016-09-08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B3E06-38D3-47EF-AE2A-C4CBEBCA5DE5}" type="slidenum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‹#›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8094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B139F31C-191E-4666-8F67-D37AE9CD3BE8}" type="datetimeFigureOut">
              <a:rPr lang="ko-KR" altLang="en-US" smtClean="0"/>
              <a:pPr/>
              <a:t>2016-09-08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5BF70FA3-CB09-4D27-BFC7-0900EDFEFCE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815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56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689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38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067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028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234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535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1843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32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303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465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538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3401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9120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5992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8259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034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58761-C7AC-4ADE-A25A-DF9FD0E8ABA4}" type="datetime1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54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52C0-5A51-423A-BFFF-6C1A9D868433}" type="datetime1">
              <a:rPr lang="ko-KR" altLang="en-US" smtClean="0"/>
              <a:t>2016-09-08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04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331C-83AF-4C12-89EF-450C82CA4F44}" type="datetime1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55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A0BFF-9A58-4775-9339-ECAA48BEE7D6}" type="datetime1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49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2CC-0499-453B-AC2D-F2522AE35D71}" type="datetime1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663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C783-6BB1-4F53-86B6-83B4A1FE8FAC}" type="datetime1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83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5D2D-D4AC-40BE-B792-71C1E46F7B81}" type="datetime1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29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E20A-35E3-4F0D-A3F8-3149666FD494}" type="datetime1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716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77B8-D269-40AA-BD66-0C9CE2A90C3C}" type="datetime1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11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F70B-4ABC-4A1C-A2F3-ACDD254842BB}" type="datetime1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87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69847-BFB1-4862-BC1F-4B42CE510BE5}" type="datetime1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749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927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65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989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213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56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5318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278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0255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9919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747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74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3DCF4BCA-F02B-4388-9CC9-9E88F19F949E}" type="datetime1">
              <a:rPr lang="ko-KR" altLang="en-US" smtClean="0"/>
              <a:pPr/>
              <a:t>2016-09-08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6B102114-8B7A-4408-B8CB-F3C50019E68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165304"/>
            <a:ext cx="2051720" cy="60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48E54-1C83-4620-B5DC-1C9270F95D6E}" type="datetimeFigureOut">
              <a:rPr lang="ko-KR" altLang="en-US" smtClean="0"/>
              <a:t>2016-09-08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02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6478" y="1844824"/>
            <a:ext cx="8892480" cy="1985392"/>
          </a:xfrm>
        </p:spPr>
        <p:txBody>
          <a:bodyPr>
            <a:normAutofit/>
          </a:bodyPr>
          <a:lstStyle/>
          <a:p>
            <a:r>
              <a:rPr lang="en-US" altLang="ko-KR" sz="48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Object-oriented Programming</a:t>
            </a:r>
            <a:endParaRPr lang="ko-KR" altLang="en-US" sz="4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11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3563888" y="4365104"/>
            <a:ext cx="5472608" cy="2079104"/>
          </a:xfrm>
        </p:spPr>
        <p:txBody>
          <a:bodyPr>
            <a:noAutofit/>
          </a:bodyPr>
          <a:lstStyle/>
          <a:p>
            <a:r>
              <a:rPr lang="en-US" altLang="ko-KR" sz="8000" dirty="0">
                <a:solidFill>
                  <a:srgbClr val="C00000"/>
                </a:solidFill>
                <a:effectLst>
                  <a:outerShdw blurRad="50800" dist="76200" dir="4200000" sx="102000" sy="102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Classes</a:t>
            </a:r>
            <a:endParaRPr lang="ko-KR" altLang="en-US" sz="8000" b="1" dirty="0">
              <a:solidFill>
                <a:srgbClr val="C00000"/>
              </a:solidFill>
              <a:effectLst>
                <a:outerShdw blurRad="50800" dist="76200" dir="4200000" sx="102000" sy="102000" algn="t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745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6624736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클래스 멤버 함수 선언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7" name="Picture 1" descr="cpphtp9_09_Page_007"/>
          <p:cNvPicPr>
            <a:picLocks noGrp="1" noChangeAspect="1"/>
          </p:cNvPicPr>
          <p:nvPr isPhoto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73857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5220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6624736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클래스 멤버 함수 선언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5" name="Picture 1" descr="cpphtp9_09_Page_010"/>
          <p:cNvPicPr>
            <a:picLocks noGrp="1" noChangeAspect="1"/>
          </p:cNvPicPr>
          <p:nvPr isPhoto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600" y="80486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 descr="cpphtp9_09_Page_012"/>
          <p:cNvPicPr>
            <a:picLocks noGrp="1" noChangeAspect="1"/>
          </p:cNvPicPr>
          <p:nvPr isPhoto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600" y="4082256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9452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6624736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생성자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(Constructor)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357158" y="1647610"/>
            <a:ext cx="8572560" cy="314954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b="1" dirty="0"/>
              <a:t>클래스의 객체를 선언하면 메모리에 객체가 생성된다</a:t>
            </a:r>
            <a:r>
              <a:rPr lang="en-US" altLang="ko-KR" sz="1800" b="1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1800" b="1" dirty="0"/>
          </a:p>
          <a:p>
            <a:r>
              <a:rPr lang="ko-KR" altLang="en-US" sz="1800" b="1" dirty="0"/>
              <a:t>하지만 메모리 할당만 될 뿐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초기화는 되지 않으므로 멤버 변수에는 </a:t>
            </a:r>
            <a:r>
              <a:rPr lang="ko-KR" altLang="en-US" sz="1800" b="1" dirty="0">
                <a:solidFill>
                  <a:srgbClr val="FF0000"/>
                </a:solidFill>
              </a:rPr>
              <a:t>쓰레기 값</a:t>
            </a:r>
            <a:r>
              <a:rPr lang="ko-KR" altLang="en-US" sz="1800" b="1" dirty="0"/>
              <a:t>이 들어가 있다</a:t>
            </a:r>
            <a:r>
              <a:rPr lang="en-US" altLang="ko-KR" sz="1800" b="1" dirty="0"/>
              <a:t>.</a:t>
            </a:r>
          </a:p>
          <a:p>
            <a:endParaRPr lang="en-US" altLang="ko-KR" sz="1800" b="1" dirty="0"/>
          </a:p>
          <a:p>
            <a:r>
              <a:rPr lang="ko-KR" altLang="en-US" sz="1800" b="1" dirty="0" err="1"/>
              <a:t>생성자</a:t>
            </a:r>
            <a:r>
              <a:rPr lang="en-US" altLang="ko-KR" sz="1800" b="1" dirty="0"/>
              <a:t>(Constructor)</a:t>
            </a:r>
            <a:r>
              <a:rPr lang="ko-KR" altLang="en-US" sz="1800" b="1" dirty="0"/>
              <a:t>는 클래스의 </a:t>
            </a:r>
            <a:r>
              <a:rPr lang="ko-KR" altLang="en-US" sz="1800" b="1" dirty="0">
                <a:solidFill>
                  <a:srgbClr val="FF0000"/>
                </a:solidFill>
              </a:rPr>
              <a:t>객체를 초기화 </a:t>
            </a:r>
            <a:r>
              <a:rPr lang="ko-KR" altLang="en-US" sz="1800" b="1" dirty="0"/>
              <a:t>해주는 특별한 멤버 함수</a:t>
            </a:r>
            <a:endParaRPr lang="en-US" altLang="ko-KR" sz="1800" b="1" dirty="0"/>
          </a:p>
          <a:p>
            <a:endParaRPr lang="en-US" altLang="ko-KR" sz="1800" b="1" dirty="0"/>
          </a:p>
          <a:p>
            <a:pPr marL="0" indent="0">
              <a:buFont typeface="Arial" pitchFamily="34" charset="0"/>
              <a:buNone/>
            </a:pP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864171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6624736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생성자의 특징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357158" y="1575602"/>
            <a:ext cx="8572560" cy="350958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b="1" dirty="0"/>
              <a:t>객체를 생성시 </a:t>
            </a:r>
            <a:r>
              <a:rPr lang="ko-KR" altLang="en-US" sz="1800" b="1" dirty="0">
                <a:solidFill>
                  <a:srgbClr val="FF0000"/>
                </a:solidFill>
              </a:rPr>
              <a:t>딱 한번 </a:t>
            </a:r>
            <a:r>
              <a:rPr lang="ko-KR" altLang="en-US" sz="1800" b="1" dirty="0"/>
              <a:t>호출된다</a:t>
            </a:r>
            <a:r>
              <a:rPr lang="en-US" altLang="ko-KR" sz="1800" b="1" dirty="0"/>
              <a:t>.</a:t>
            </a:r>
          </a:p>
          <a:p>
            <a:endParaRPr lang="en-US" altLang="ko-KR" sz="1800" b="1" dirty="0"/>
          </a:p>
          <a:p>
            <a:r>
              <a:rPr lang="ko-KR" altLang="en-US" sz="1800" b="1" dirty="0">
                <a:solidFill>
                  <a:srgbClr val="FF0000"/>
                </a:solidFill>
              </a:rPr>
              <a:t>클래스</a:t>
            </a:r>
            <a:r>
              <a:rPr lang="ko-KR" altLang="en-US" sz="1800" b="1" dirty="0"/>
              <a:t>의 이름과 </a:t>
            </a:r>
            <a:r>
              <a:rPr lang="ko-KR" altLang="en-US" sz="1800" b="1" dirty="0">
                <a:solidFill>
                  <a:srgbClr val="FF0000"/>
                </a:solidFill>
              </a:rPr>
              <a:t>같은 이름</a:t>
            </a:r>
            <a:r>
              <a:rPr lang="ko-KR" altLang="en-US" sz="1800" b="1" dirty="0"/>
              <a:t>을 갖는다</a:t>
            </a:r>
            <a:r>
              <a:rPr lang="en-US" altLang="ko-KR" sz="1800" b="1" dirty="0"/>
              <a:t>.</a:t>
            </a:r>
          </a:p>
          <a:p>
            <a:endParaRPr lang="en-US" altLang="ko-KR" sz="1800" b="1" dirty="0"/>
          </a:p>
          <a:p>
            <a:r>
              <a:rPr lang="ko-KR" altLang="en-US" sz="1800" b="1" dirty="0"/>
              <a:t>리턴 타입이 없다</a:t>
            </a:r>
            <a:r>
              <a:rPr lang="en-US" altLang="ko-KR" sz="1800" b="1" dirty="0"/>
              <a:t>.</a:t>
            </a:r>
          </a:p>
          <a:p>
            <a:endParaRPr lang="en-US" altLang="ko-KR" sz="1800" b="1" dirty="0"/>
          </a:p>
          <a:p>
            <a:r>
              <a:rPr lang="en-US" altLang="ko-KR" sz="1800" b="1" dirty="0">
                <a:solidFill>
                  <a:srgbClr val="FF0000"/>
                </a:solidFill>
              </a:rPr>
              <a:t>public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속성을 가져야 한다</a:t>
            </a:r>
            <a:r>
              <a:rPr lang="en-US" altLang="ko-KR" sz="1800" b="1" dirty="0"/>
              <a:t>.</a:t>
            </a:r>
            <a:br>
              <a:rPr lang="en-US" altLang="ko-KR" sz="1800" b="1" dirty="0"/>
            </a:br>
            <a:endParaRPr lang="en-US" altLang="ko-KR" sz="1800" b="1" dirty="0"/>
          </a:p>
          <a:p>
            <a:r>
              <a:rPr lang="ko-KR" altLang="en-US" sz="1800" b="1" dirty="0"/>
              <a:t>함수의 일종이니 오버로딩이 가능하고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매개변수의 디폴트 값 설정이 가능하다</a:t>
            </a:r>
            <a:r>
              <a:rPr lang="en-US" altLang="ko-KR" sz="1800" b="1" dirty="0"/>
              <a:t>.</a:t>
            </a:r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pPr marL="0" indent="0">
              <a:buFont typeface="Arial" pitchFamily="34" charset="0"/>
              <a:buNone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52814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6624736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생성자 예시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980728"/>
            <a:ext cx="3515047" cy="52374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790918"/>
            <a:ext cx="2627498" cy="7820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5055155"/>
            <a:ext cx="3743521" cy="2460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직선 화살표 연결선 8"/>
          <p:cNvCxnSpPr/>
          <p:nvPr/>
        </p:nvCxnSpPr>
        <p:spPr>
          <a:xfrm>
            <a:off x="4608797" y="3142772"/>
            <a:ext cx="55117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>
            <a:off x="3327929" y="5157192"/>
            <a:ext cx="174812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600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6624736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생성자 예시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Picture 1" descr="cpphtp9_09_Page_023"/>
          <p:cNvPicPr>
            <a:picLocks noGrp="1" noChangeAspect="1"/>
          </p:cNvPicPr>
          <p:nvPr isPhoto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9881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3131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6624736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생성자 예시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 (cont.)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Picture 1" descr="cpphtp9_09_Page_026"/>
          <p:cNvPicPr>
            <a:picLocks noGrp="1" noChangeAspect="1"/>
          </p:cNvPicPr>
          <p:nvPr isPhoto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9881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8245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268759"/>
            <a:ext cx="6912768" cy="47341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6624736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멤버 </a:t>
            </a:r>
            <a:r>
              <a:rPr lang="ko-KR" altLang="en-US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이니셜라이저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10</a:t>
            </a:fld>
            <a:endParaRPr lang="ko-KR" altLang="en-US"/>
          </a:p>
        </p:txBody>
      </p:sp>
      <p:cxnSp>
        <p:nvCxnSpPr>
          <p:cNvPr id="9" name="직선 화살표 연결선 8"/>
          <p:cNvCxnSpPr/>
          <p:nvPr/>
        </p:nvCxnSpPr>
        <p:spPr>
          <a:xfrm flipV="1">
            <a:off x="6228184" y="2574196"/>
            <a:ext cx="0" cy="494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716016" y="2168861"/>
            <a:ext cx="34563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num1=_num1; num2=_num2;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615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6624736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멤버 </a:t>
            </a:r>
            <a:r>
              <a:rPr lang="ko-KR" altLang="en-US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이니셜라이저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357158" y="1575602"/>
            <a:ext cx="8572560" cy="257347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b="1" dirty="0"/>
              <a:t>클래스의 멤버 변수를 초기화 해줄 수 있다</a:t>
            </a:r>
            <a:r>
              <a:rPr lang="en-US" altLang="ko-KR" sz="1800" b="1" dirty="0"/>
              <a:t>.</a:t>
            </a:r>
          </a:p>
          <a:p>
            <a:endParaRPr lang="en-US" altLang="ko-KR" sz="1800" b="1" dirty="0"/>
          </a:p>
          <a:p>
            <a:r>
              <a:rPr lang="ko-KR" altLang="en-US" sz="1800" b="1" dirty="0"/>
              <a:t>생성자의 몸체 부분보다 먼저 실행되는 특징이 있다</a:t>
            </a:r>
            <a:r>
              <a:rPr lang="en-US" altLang="ko-KR" sz="1800" b="1" dirty="0"/>
              <a:t>.</a:t>
            </a:r>
          </a:p>
          <a:p>
            <a:endParaRPr lang="en-US" altLang="ko-KR" sz="1800" b="1" dirty="0"/>
          </a:p>
          <a:p>
            <a:r>
              <a:rPr lang="ko-KR" altLang="en-US" sz="1800" b="1" dirty="0"/>
              <a:t>초기화 대상을 명확히 인식 가능하다</a:t>
            </a:r>
            <a:r>
              <a:rPr lang="en-US" altLang="ko-KR" sz="1800" b="1" dirty="0"/>
              <a:t>.</a:t>
            </a:r>
          </a:p>
          <a:p>
            <a:endParaRPr lang="en-US" altLang="ko-KR" sz="1800" b="1" dirty="0"/>
          </a:p>
          <a:p>
            <a:r>
              <a:rPr lang="ko-KR" altLang="en-US" sz="1800" b="1" dirty="0"/>
              <a:t>성능에 약간 이점이 있다</a:t>
            </a:r>
            <a:r>
              <a:rPr lang="en-US" altLang="ko-KR" sz="1800" b="1" dirty="0"/>
              <a:t>.</a:t>
            </a:r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pPr marL="0" indent="0">
              <a:buFont typeface="Arial" pitchFamily="34" charset="0"/>
              <a:buNone/>
            </a:pPr>
            <a:endParaRPr lang="en-US" altLang="ko-KR" sz="18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194" y="3431400"/>
            <a:ext cx="3826405" cy="30652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9152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6624736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소멸자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(Destructor)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357158" y="1575602"/>
            <a:ext cx="8572560" cy="242946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b="1" dirty="0"/>
              <a:t>클래스의 객체가 소멸될 때 </a:t>
            </a:r>
            <a:r>
              <a:rPr lang="ko-KR" altLang="en-US" sz="1800" b="1" dirty="0">
                <a:solidFill>
                  <a:srgbClr val="FF0000"/>
                </a:solidFill>
              </a:rPr>
              <a:t>자동으로 호출</a:t>
            </a:r>
            <a:endParaRPr lang="en-US" altLang="ko-KR" sz="1800" b="1" dirty="0"/>
          </a:p>
          <a:p>
            <a:endParaRPr lang="en-US" altLang="ko-KR" sz="1800" b="1" dirty="0"/>
          </a:p>
          <a:p>
            <a:r>
              <a:rPr lang="ko-KR" altLang="en-US" sz="1800" b="1" dirty="0"/>
              <a:t>객체에 할당한 자원을 회수하는 역할을 한다</a:t>
            </a:r>
            <a:r>
              <a:rPr lang="en-US" altLang="ko-KR" sz="1800" b="1" dirty="0"/>
              <a:t>.</a:t>
            </a:r>
          </a:p>
          <a:p>
            <a:endParaRPr lang="en-US" altLang="ko-KR" sz="1800" b="1" dirty="0"/>
          </a:p>
          <a:p>
            <a:r>
              <a:rPr lang="ko-KR" altLang="en-US" sz="1800" b="1" dirty="0"/>
              <a:t>생성자에서 동적으로 메모리를 할당하는 경우 이것을 해제해 줄 소멸자가 반드시 필요하다</a:t>
            </a:r>
            <a:r>
              <a:rPr lang="en-US" altLang="ko-KR" sz="1800" b="1" dirty="0"/>
              <a:t>.</a:t>
            </a:r>
            <a:br>
              <a:rPr lang="en-US" altLang="ko-KR" sz="1800" b="1" dirty="0"/>
            </a:br>
            <a:endParaRPr lang="en-US" altLang="ko-KR" sz="1800" b="1" dirty="0"/>
          </a:p>
          <a:p>
            <a:r>
              <a:rPr lang="en-US" altLang="ko-KR" sz="1800" b="1" dirty="0"/>
              <a:t>public</a:t>
            </a:r>
            <a:r>
              <a:rPr lang="ko-KR" altLang="en-US" sz="1800" b="1" dirty="0"/>
              <a:t>으로 선언되어야 한다</a:t>
            </a:r>
            <a:r>
              <a:rPr lang="en-US" altLang="ko-KR" sz="1800" b="1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Font typeface="Arial" pitchFamily="34" charset="0"/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26237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6624736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소멸자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예시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340768"/>
            <a:ext cx="3676650" cy="4067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323" y="2420888"/>
            <a:ext cx="3933825" cy="430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773" y="2420888"/>
            <a:ext cx="3381375" cy="2095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오른쪽 화살표 8"/>
          <p:cNvSpPr/>
          <p:nvPr/>
        </p:nvSpPr>
        <p:spPr>
          <a:xfrm>
            <a:off x="4341895" y="3216513"/>
            <a:ext cx="518137" cy="3731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560840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생성자와 </a:t>
            </a:r>
            <a:r>
              <a:rPr lang="ko-KR" altLang="en-US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소멸자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10" name="Picture 1" descr="cpphtp9_09_Page_037"/>
          <p:cNvPicPr>
            <a:picLocks noGrp="1" noChangeAspect="1"/>
          </p:cNvPicPr>
          <p:nvPr isPhoto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29841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6698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560840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생성자와 </a:t>
            </a:r>
            <a:r>
              <a:rPr lang="ko-KR" altLang="en-US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소멸자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5" name="Picture 1" descr="cpphtp9_09_Page_038"/>
          <p:cNvPicPr>
            <a:picLocks noGrp="1" noChangeAspect="1"/>
          </p:cNvPicPr>
          <p:nvPr isPhoto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1967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6311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560840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생성자와 </a:t>
            </a:r>
            <a:r>
              <a:rPr lang="ko-KR" altLang="en-US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소멸자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5" name="Picture 1" descr="cpphtp9_09_Page_039"/>
          <p:cNvPicPr>
            <a:picLocks noGrp="1" noChangeAspect="1"/>
          </p:cNvPicPr>
          <p:nvPr isPhoto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7833"/>
            <a:ext cx="9144000" cy="55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5233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539552" y="2669877"/>
            <a:ext cx="9710464" cy="4188123"/>
          </a:xfrm>
        </p:spPr>
        <p:txBody>
          <a:bodyPr>
            <a:noAutofit/>
          </a:bodyPr>
          <a:lstStyle/>
          <a:p>
            <a:r>
              <a:rPr lang="ko-KR" altLang="en-US" sz="1800" dirty="0">
                <a:latin typeface="+mn-lt"/>
              </a:rPr>
              <a:t>요구사항</a:t>
            </a:r>
            <a:endParaRPr lang="en-US" altLang="ko-KR" sz="1800" dirty="0">
              <a:latin typeface="+mn-lt"/>
            </a:endParaRPr>
          </a:p>
          <a:p>
            <a:pPr lvl="1"/>
            <a:r>
              <a:rPr lang="en-US" altLang="ko-KR" sz="1600" dirty="0" err="1">
                <a:latin typeface="+mn-lt"/>
              </a:rPr>
              <a:t>myTime</a:t>
            </a:r>
            <a:r>
              <a:rPr lang="en-US" altLang="ko-KR" sz="1600" dirty="0">
                <a:latin typeface="+mn-lt"/>
              </a:rPr>
              <a:t> </a:t>
            </a:r>
            <a:r>
              <a:rPr lang="ko-KR" altLang="en-US" sz="1600" dirty="0">
                <a:latin typeface="+mn-lt"/>
              </a:rPr>
              <a:t>클래스 생성 </a:t>
            </a:r>
            <a:r>
              <a:rPr lang="en-US" altLang="ko-KR" sz="1600" dirty="0">
                <a:latin typeface="+mn-lt"/>
              </a:rPr>
              <a:t>&lt;</a:t>
            </a:r>
            <a:r>
              <a:rPr lang="en-US" altLang="ko-KR" sz="1600" dirty="0" err="1">
                <a:latin typeface="+mn-lt"/>
              </a:rPr>
              <a:t>myTime.h</a:t>
            </a:r>
            <a:r>
              <a:rPr lang="en-US" altLang="ko-KR" sz="1600" dirty="0">
                <a:latin typeface="+mn-lt"/>
              </a:rPr>
              <a:t>  myTime.cpp  main.cpp&gt;</a:t>
            </a:r>
            <a:r>
              <a:rPr lang="ko-KR" altLang="en-US" sz="1600" dirty="0">
                <a:latin typeface="+mn-lt"/>
              </a:rPr>
              <a:t>로 분할</a:t>
            </a:r>
            <a:endParaRPr lang="en-US" altLang="ko-KR" sz="1600" dirty="0">
              <a:latin typeface="+mn-lt"/>
            </a:endParaRPr>
          </a:p>
          <a:p>
            <a:pPr lvl="1"/>
            <a:r>
              <a:rPr lang="ko-KR" altLang="en-US" sz="1600" dirty="0">
                <a:latin typeface="+mn-lt"/>
              </a:rPr>
              <a:t>프로그램 시작과 함께 사용자로부터 현재 시</a:t>
            </a:r>
            <a:r>
              <a:rPr lang="en-US" altLang="ko-KR" sz="1600" dirty="0">
                <a:latin typeface="+mn-lt"/>
              </a:rPr>
              <a:t>/</a:t>
            </a:r>
            <a:r>
              <a:rPr lang="ko-KR" altLang="en-US" sz="1600" dirty="0">
                <a:latin typeface="+mn-lt"/>
              </a:rPr>
              <a:t>분</a:t>
            </a:r>
            <a:r>
              <a:rPr lang="en-US" altLang="ko-KR" sz="1600" dirty="0">
                <a:latin typeface="+mn-lt"/>
              </a:rPr>
              <a:t>/</a:t>
            </a:r>
            <a:r>
              <a:rPr lang="ko-KR" altLang="en-US" sz="1600" dirty="0">
                <a:latin typeface="+mn-lt"/>
              </a:rPr>
              <a:t>초를 입력 받음 </a:t>
            </a:r>
            <a:r>
              <a:rPr lang="en-US" altLang="ko-KR" sz="1600" dirty="0">
                <a:latin typeface="+mn-lt"/>
              </a:rPr>
              <a:t>(</a:t>
            </a:r>
            <a:r>
              <a:rPr lang="ko-KR" altLang="en-US" sz="1600" dirty="0">
                <a:latin typeface="+mn-lt"/>
              </a:rPr>
              <a:t>생성자 사용</a:t>
            </a:r>
            <a:r>
              <a:rPr lang="en-US" altLang="ko-KR" sz="1600" dirty="0">
                <a:latin typeface="+mn-lt"/>
              </a:rPr>
              <a:t>)</a:t>
            </a:r>
          </a:p>
          <a:p>
            <a:pPr lvl="1"/>
            <a:r>
              <a:rPr lang="ko-KR" altLang="en-US" sz="1600" dirty="0">
                <a:latin typeface="+mn-lt"/>
              </a:rPr>
              <a:t>입력 받은 시간이 범위를 넘어서면 예외 처리를 하고 프로그램을 종료</a:t>
            </a:r>
            <a:endParaRPr lang="en-US" altLang="ko-KR" sz="1600" dirty="0">
              <a:latin typeface="+mn-lt"/>
            </a:endParaRPr>
          </a:p>
          <a:p>
            <a:pPr lvl="2"/>
            <a:r>
              <a:rPr lang="ko-KR" altLang="en-US" sz="1400" dirty="0">
                <a:latin typeface="+mn-lt"/>
              </a:rPr>
              <a:t>시 </a:t>
            </a:r>
            <a:r>
              <a:rPr lang="en-US" altLang="ko-KR" sz="1400" dirty="0">
                <a:latin typeface="+mn-lt"/>
              </a:rPr>
              <a:t>: [0, 23]</a:t>
            </a:r>
            <a:r>
              <a:rPr lang="ko-KR" altLang="en-US" sz="1400" dirty="0">
                <a:latin typeface="+mn-lt"/>
              </a:rPr>
              <a:t>의 정수</a:t>
            </a:r>
            <a:endParaRPr lang="en-US" altLang="ko-KR" sz="1400" dirty="0">
              <a:latin typeface="+mn-lt"/>
            </a:endParaRPr>
          </a:p>
          <a:p>
            <a:pPr lvl="2"/>
            <a:r>
              <a:rPr lang="ko-KR" altLang="en-US" sz="1400" dirty="0">
                <a:latin typeface="+mn-lt"/>
              </a:rPr>
              <a:t>분 </a:t>
            </a:r>
            <a:r>
              <a:rPr lang="en-US" altLang="ko-KR" sz="1400" dirty="0">
                <a:latin typeface="+mn-lt"/>
              </a:rPr>
              <a:t>: [0, 59]</a:t>
            </a:r>
            <a:r>
              <a:rPr lang="ko-KR" altLang="en-US" sz="1400" dirty="0">
                <a:latin typeface="+mn-lt"/>
              </a:rPr>
              <a:t>의 정수</a:t>
            </a:r>
            <a:endParaRPr lang="en-US" altLang="ko-KR" sz="1400" dirty="0">
              <a:latin typeface="+mn-lt"/>
            </a:endParaRPr>
          </a:p>
          <a:p>
            <a:pPr lvl="2"/>
            <a:r>
              <a:rPr lang="ko-KR" altLang="en-US" sz="1400" dirty="0">
                <a:latin typeface="+mn-lt"/>
              </a:rPr>
              <a:t>초 </a:t>
            </a:r>
            <a:r>
              <a:rPr lang="en-US" altLang="ko-KR" sz="1400" dirty="0">
                <a:latin typeface="+mn-lt"/>
              </a:rPr>
              <a:t>: [0, 59]</a:t>
            </a:r>
            <a:r>
              <a:rPr lang="ko-KR" altLang="en-US" sz="1400" dirty="0">
                <a:latin typeface="+mn-lt"/>
              </a:rPr>
              <a:t>의 정수</a:t>
            </a:r>
            <a:endParaRPr lang="en-US" altLang="ko-KR" sz="1400" dirty="0">
              <a:latin typeface="+mn-lt"/>
            </a:endParaRPr>
          </a:p>
          <a:p>
            <a:pPr lvl="1"/>
            <a:r>
              <a:rPr lang="ko-KR" altLang="en-US" sz="1600" dirty="0">
                <a:latin typeface="+mn-lt"/>
              </a:rPr>
              <a:t>다음의 입력에 따라 정해진 기능을 수행</a:t>
            </a:r>
            <a:endParaRPr lang="en-US" altLang="ko-KR" sz="1600" dirty="0">
              <a:latin typeface="+mn-lt"/>
            </a:endParaRPr>
          </a:p>
          <a:p>
            <a:pPr lvl="2"/>
            <a:r>
              <a:rPr lang="en-US" altLang="ko-KR" sz="1400" dirty="0">
                <a:latin typeface="+mn-lt"/>
              </a:rPr>
              <a:t>U : </a:t>
            </a:r>
            <a:r>
              <a:rPr lang="ko-KR" altLang="en-US" sz="1400" dirty="0">
                <a:latin typeface="+mn-lt"/>
              </a:rPr>
              <a:t>입력 받은 시간에 실제로 흐른 시간을 더해서 출력 </a:t>
            </a:r>
            <a:r>
              <a:rPr lang="en-US" altLang="ko-KR" sz="1400" dirty="0">
                <a:latin typeface="+mn-lt"/>
              </a:rPr>
              <a:t>(“HH:MM:SS”</a:t>
            </a:r>
            <a:r>
              <a:rPr lang="ko-KR" altLang="en-US" sz="1400" dirty="0">
                <a:latin typeface="+mn-lt"/>
              </a:rPr>
              <a:t> 포맷으로</a:t>
            </a:r>
            <a:r>
              <a:rPr lang="en-US" altLang="ko-KR" sz="1400" dirty="0">
                <a:latin typeface="+mn-lt"/>
              </a:rPr>
              <a:t>)</a:t>
            </a:r>
          </a:p>
          <a:p>
            <a:pPr lvl="2"/>
            <a:r>
              <a:rPr lang="en-US" altLang="ko-KR" sz="1400" dirty="0">
                <a:latin typeface="+mn-lt"/>
              </a:rPr>
              <a:t>Q : </a:t>
            </a:r>
            <a:r>
              <a:rPr lang="ko-KR" altLang="en-US" sz="1400" dirty="0">
                <a:latin typeface="+mn-lt"/>
              </a:rPr>
              <a:t>프로그램을 종료</a:t>
            </a:r>
            <a:endParaRPr lang="en-US" altLang="ko-KR" sz="1400" dirty="0">
              <a:latin typeface="+mn-lt"/>
            </a:endParaRPr>
          </a:p>
          <a:p>
            <a:pPr lvl="2"/>
            <a:r>
              <a:rPr lang="ko-KR" altLang="en-US" sz="1400" dirty="0">
                <a:latin typeface="+mn-lt"/>
              </a:rPr>
              <a:t>이외의 입력이 들어오는 경우는 고려하지 않음</a:t>
            </a:r>
            <a:endParaRPr lang="en-US" altLang="ko-KR" sz="1400" dirty="0">
              <a:latin typeface="+mn-lt"/>
            </a:endParaRPr>
          </a:p>
          <a:p>
            <a:pPr lvl="1"/>
            <a:r>
              <a:rPr lang="ko-KR" altLang="en-US" sz="1600" dirty="0">
                <a:latin typeface="+mn-lt"/>
              </a:rPr>
              <a:t>이외의 언급되지 않은 입</a:t>
            </a:r>
            <a:r>
              <a:rPr lang="en-US" altLang="ko-KR" sz="1600" dirty="0">
                <a:latin typeface="+mn-lt"/>
              </a:rPr>
              <a:t>/</a:t>
            </a:r>
            <a:r>
              <a:rPr lang="ko-KR" altLang="en-US" sz="1600" dirty="0">
                <a:latin typeface="+mn-lt"/>
              </a:rPr>
              <a:t>출력 포맷은 자유</a:t>
            </a:r>
            <a:endParaRPr lang="en-US" altLang="ko-KR" sz="1600" dirty="0">
              <a:latin typeface="+mn-lt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rcRect r="65036" b="55585"/>
          <a:stretch/>
        </p:blipFill>
        <p:spPr>
          <a:xfrm>
            <a:off x="2267744" y="68824"/>
            <a:ext cx="3783336" cy="281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19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 주의사항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1520" y="1628800"/>
            <a:ext cx="882047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꼭 프로젝트 폴더 전체를 압축하여 제출하세요</a:t>
            </a:r>
            <a:r>
              <a:rPr lang="en-US" altLang="ko-KR" b="1" dirty="0"/>
              <a:t>. 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학번</a:t>
            </a:r>
            <a:r>
              <a:rPr lang="en-US" altLang="ko-KR" b="1" dirty="0">
                <a:solidFill>
                  <a:srgbClr val="FF0000"/>
                </a:solidFill>
              </a:rPr>
              <a:t>_</a:t>
            </a:r>
            <a:r>
              <a:rPr lang="ko-KR" altLang="en-US" b="1" dirty="0">
                <a:solidFill>
                  <a:srgbClr val="FF0000"/>
                </a:solidFill>
              </a:rPr>
              <a:t>이름</a:t>
            </a:r>
            <a:r>
              <a:rPr lang="en-US" altLang="ko-KR" b="1" dirty="0">
                <a:solidFill>
                  <a:srgbClr val="FF0000"/>
                </a:solidFill>
              </a:rPr>
              <a:t>).zip</a:t>
            </a:r>
            <a:r>
              <a:rPr lang="en-US" altLang="ko-KR" b="1" dirty="0"/>
              <a:t> </a:t>
            </a:r>
            <a:r>
              <a:rPr lang="ko-KR" altLang="en-US" b="1" dirty="0"/>
              <a:t>형태로 제출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주석 처리 해주시기 바랍니다</a:t>
            </a:r>
            <a:r>
              <a:rPr lang="en-US" altLang="ko-KR" b="1" dirty="0"/>
              <a:t>. </a:t>
            </a:r>
            <a:r>
              <a:rPr lang="ko-KR" altLang="en-US" b="1" dirty="0"/>
              <a:t>없을 시에 감점</a:t>
            </a:r>
            <a:r>
              <a:rPr lang="en-US" altLang="ko-KR" b="1" dirty="0"/>
              <a:t>.|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제출 시간이 </a:t>
            </a:r>
            <a:r>
              <a:rPr lang="en-US" altLang="ko-KR" b="1" dirty="0"/>
              <a:t>11</a:t>
            </a:r>
            <a:r>
              <a:rPr lang="ko-KR" altLang="en-US" b="1" dirty="0"/>
              <a:t>시</a:t>
            </a:r>
            <a:r>
              <a:rPr lang="en-US" altLang="ko-KR" b="1" dirty="0"/>
              <a:t>59</a:t>
            </a:r>
            <a:r>
              <a:rPr lang="ko-KR" altLang="en-US" b="1" dirty="0"/>
              <a:t>분</a:t>
            </a:r>
            <a:r>
              <a:rPr lang="en-US" altLang="ko-KR" b="1" dirty="0"/>
              <a:t>59</a:t>
            </a:r>
            <a:r>
              <a:rPr lang="ko-KR" altLang="en-US" b="1" dirty="0"/>
              <a:t>초에서 </a:t>
            </a:r>
            <a:r>
              <a:rPr lang="en-US" altLang="ko-KR" b="1" dirty="0">
                <a:solidFill>
                  <a:srgbClr val="FF0000"/>
                </a:solidFill>
              </a:rPr>
              <a:t>1</a:t>
            </a:r>
            <a:r>
              <a:rPr lang="ko-KR" altLang="en-US" b="1" dirty="0">
                <a:solidFill>
                  <a:srgbClr val="FF0000"/>
                </a:solidFill>
              </a:rPr>
              <a:t>초라도 늦으면 불인정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성적 문의는 상담시간을 참고하여 하이테크 </a:t>
            </a:r>
            <a:r>
              <a:rPr lang="en-US" altLang="ko-KR" b="1" dirty="0"/>
              <a:t>1307</a:t>
            </a:r>
            <a:r>
              <a:rPr lang="ko-KR" altLang="en-US" b="1" dirty="0"/>
              <a:t>호로 오세요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r>
              <a:rPr lang="en-US" altLang="ko-KR" sz="1600" b="1" dirty="0"/>
              <a:t>(</a:t>
            </a:r>
            <a:r>
              <a:rPr lang="ko-KR" altLang="en-US" sz="1600" b="1" dirty="0"/>
              <a:t>정말 이건 감점 사유가 아니다 싶은 것만 오시길 바랍니다</a:t>
            </a:r>
            <a:r>
              <a:rPr lang="en-US" altLang="ko-KR" sz="1600" b="1" dirty="0"/>
              <a:t>.)</a:t>
            </a: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sz="1400" b="1" dirty="0"/>
            </a:b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340478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1863</TotalTime>
  <Words>320</Words>
  <Application>Microsoft Office PowerPoint</Application>
  <PresentationFormat>화면 슬라이드 쇼(4:3)</PresentationFormat>
  <Paragraphs>102</Paragraphs>
  <Slides>18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Arial Unicode MS</vt:lpstr>
      <vt:lpstr>맑은 고딕</vt:lpstr>
      <vt:lpstr>Arial</vt:lpstr>
      <vt:lpstr>Tahoma</vt:lpstr>
      <vt:lpstr>Times New Roman</vt:lpstr>
      <vt:lpstr>Office 테마</vt:lpstr>
      <vt:lpstr>디자인 사용자 지정</vt:lpstr>
      <vt:lpstr>Object-oriented Programming</vt:lpstr>
      <vt:lpstr>Classes</vt:lpstr>
      <vt:lpstr>클래스 멤버 함수 선언</vt:lpstr>
      <vt:lpstr>클래스 멤버 함수 선언</vt:lpstr>
      <vt:lpstr>생성자 (Constructor)</vt:lpstr>
      <vt:lpstr>생성자의 특징</vt:lpstr>
      <vt:lpstr>생성자 예시1</vt:lpstr>
      <vt:lpstr>생성자 예시2</vt:lpstr>
      <vt:lpstr>생성자 예시2 (cont.)</vt:lpstr>
      <vt:lpstr>멤버 이니셜라이저</vt:lpstr>
      <vt:lpstr>멤버 이니셜라이저</vt:lpstr>
      <vt:lpstr>소멸자 (Destructor)</vt:lpstr>
      <vt:lpstr>소멸자 예시</vt:lpstr>
      <vt:lpstr>생성자와 소멸자</vt:lpstr>
      <vt:lpstr>생성자와 소멸자</vt:lpstr>
      <vt:lpstr>생성자와 소멸자</vt:lpstr>
      <vt:lpstr>과제</vt:lpstr>
      <vt:lpstr>과제 주의사항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</dc:title>
  <dc:creator>Hanju</dc:creator>
  <cp:lastModifiedBy>Zzan</cp:lastModifiedBy>
  <cp:revision>187</cp:revision>
  <cp:lastPrinted>2015-10-28T23:12:44Z</cp:lastPrinted>
  <dcterms:created xsi:type="dcterms:W3CDTF">2012-06-15T20:49:53Z</dcterms:created>
  <dcterms:modified xsi:type="dcterms:W3CDTF">2016-09-08T03:45:10Z</dcterms:modified>
</cp:coreProperties>
</file>