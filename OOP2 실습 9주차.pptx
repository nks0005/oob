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9"/>
  </p:notesMasterIdLst>
  <p:handoutMasterIdLst>
    <p:handoutMasterId r:id="rId30"/>
  </p:handoutMasterIdLst>
  <p:sldIdLst>
    <p:sldId id="291" r:id="rId3"/>
    <p:sldId id="356" r:id="rId4"/>
    <p:sldId id="286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5" r:id="rId15"/>
    <p:sldId id="383" r:id="rId16"/>
    <p:sldId id="384" r:id="rId17"/>
    <p:sldId id="386" r:id="rId18"/>
    <p:sldId id="387" r:id="rId19"/>
    <p:sldId id="388" r:id="rId20"/>
    <p:sldId id="389" r:id="rId21"/>
    <p:sldId id="284" r:id="rId22"/>
    <p:sldId id="390" r:id="rId23"/>
    <p:sldId id="391" r:id="rId24"/>
    <p:sldId id="392" r:id="rId25"/>
    <p:sldId id="394" r:id="rId26"/>
    <p:sldId id="393" r:id="rId27"/>
    <p:sldId id="306" r:id="rId28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0AFD4"/>
    <a:srgbClr val="B1C7E1"/>
    <a:srgbClr val="C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4991" autoAdjust="0"/>
  </p:normalViewPr>
  <p:slideViewPr>
    <p:cSldViewPr>
      <p:cViewPr>
        <p:scale>
          <a:sx n="100" d="100"/>
          <a:sy n="100" d="100"/>
        </p:scale>
        <p:origin x="750" y="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2016-10-27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2016-10-27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097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235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959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47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56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363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569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621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37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853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600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575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768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127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391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66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9490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4791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906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081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8430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2016-10-27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2016-10-27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9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187624" y="3933056"/>
            <a:ext cx="6696744" cy="2079104"/>
          </a:xfrm>
        </p:spPr>
        <p:txBody>
          <a:bodyPr>
            <a:noAutofit/>
          </a:bodyPr>
          <a:lstStyle/>
          <a:p>
            <a:pPr algn="r"/>
            <a:r>
              <a:rPr lang="en-US" altLang="ko-KR" sz="120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Quiz…</a:t>
            </a:r>
            <a:endParaRPr lang="ko-KR" altLang="en-US" sz="120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0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상속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06358" y="1389046"/>
            <a:ext cx="8572560" cy="44162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객체 포인터란</a:t>
            </a:r>
            <a:r>
              <a:rPr lang="en-US" altLang="ko-KR" sz="2400" b="1" dirty="0"/>
              <a:t>?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ko-KR" altLang="en-US" sz="2000" dirty="0"/>
              <a:t>객체의 주소 값을 저장할 수 있는 포인터</a:t>
            </a:r>
            <a:r>
              <a:rPr lang="ko-KR" altLang="en-US" sz="2400" b="1" dirty="0"/>
              <a:t> 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en-US" altLang="ko-KR" sz="2400" b="1" dirty="0"/>
              <a:t>Derived </a:t>
            </a:r>
            <a:r>
              <a:rPr lang="ko-KR" altLang="en-US" sz="2400" b="1" dirty="0"/>
              <a:t>클래스 객체의 주소 값도 저장 가능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en-US" altLang="ko-KR" sz="2000" dirty="0"/>
              <a:t>A </a:t>
            </a:r>
            <a:r>
              <a:rPr lang="ko-KR" altLang="en-US" sz="2000" dirty="0"/>
              <a:t>클래스의 포인터는 </a:t>
            </a:r>
            <a:r>
              <a:rPr lang="en-US" altLang="ko-KR" sz="2000" dirty="0"/>
              <a:t>A </a:t>
            </a:r>
            <a:r>
              <a:rPr lang="ko-KR" altLang="en-US" sz="2000" dirty="0"/>
              <a:t>객체 뿐만 아니라</a:t>
            </a:r>
            <a:r>
              <a:rPr lang="en-US" altLang="ko-KR" sz="2000" dirty="0"/>
              <a:t>, A </a:t>
            </a:r>
            <a:r>
              <a:rPr lang="ko-KR" altLang="en-US" sz="2000" dirty="0"/>
              <a:t>클래스를 상속하는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en-US" sz="2000" dirty="0"/>
              <a:t>파생 클래스 객체의 주소 값도 저장이 가능하다</a:t>
            </a:r>
            <a:r>
              <a:rPr lang="en-US" altLang="ko-KR" sz="2000" dirty="0"/>
              <a:t>.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가리키는 객체와 상관없이 포인터의 클래스에 선언된 멤버와 포인터의 클래스가 상속한 멤버에만 접근 가능</a:t>
            </a:r>
            <a:r>
              <a:rPr lang="ko-KR" altLang="en-US" sz="2800" b="1" dirty="0"/>
              <a:t> 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상속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47" y="980728"/>
            <a:ext cx="4544388" cy="52738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124744"/>
            <a:ext cx="3197467" cy="2990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594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상속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08720"/>
            <a:ext cx="4544388" cy="52738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24744"/>
            <a:ext cx="3672408" cy="3205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6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55576" y="2780928"/>
            <a:ext cx="6696744" cy="3312368"/>
            <a:chOff x="683568" y="2996952"/>
            <a:chExt cx="6696744" cy="3312368"/>
          </a:xfrm>
        </p:grpSpPr>
        <p:sp>
          <p:nvSpPr>
            <p:cNvPr id="9" name="직사각형 8"/>
            <p:cNvSpPr/>
            <p:nvPr/>
          </p:nvSpPr>
          <p:spPr>
            <a:xfrm>
              <a:off x="683568" y="2996952"/>
              <a:ext cx="6696744" cy="33123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27584" y="3212976"/>
              <a:ext cx="1359768" cy="7162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27584" y="4295005"/>
              <a:ext cx="1359768" cy="7162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>
                  <a:solidFill>
                    <a:schemeClr val="tx1"/>
                  </a:solidFill>
                </a:rPr>
                <a:t>B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27584" y="5379454"/>
              <a:ext cx="1359768" cy="7162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>
                  <a:solidFill>
                    <a:schemeClr val="tx1"/>
                  </a:solidFill>
                </a:rPr>
                <a:t>C</a:t>
              </a:r>
              <a:endParaRPr lang="ko-KR" altLang="en-US" sz="3600" dirty="0"/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 flipV="1">
              <a:off x="1466552" y="3929238"/>
              <a:ext cx="0" cy="3657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flipV="1">
              <a:off x="1466552" y="5011267"/>
              <a:ext cx="0" cy="3657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217096" y="3386441"/>
              <a:ext cx="494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a()</a:t>
              </a:r>
              <a:endParaRPr lang="ko-KR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17096" y="4486204"/>
              <a:ext cx="494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b()</a:t>
              </a:r>
              <a:endParaRPr lang="ko-KR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27316" y="5552919"/>
              <a:ext cx="494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c()</a:t>
              </a:r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970336" y="3332614"/>
              <a:ext cx="792088" cy="14477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A*</a:t>
              </a: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B*</a:t>
              </a: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C*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427984" y="3668754"/>
              <a:ext cx="2736304" cy="24965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31483" y="3227094"/>
              <a:ext cx="34477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4819256" y="4146328"/>
              <a:ext cx="2345032" cy="20189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57957" y="3729605"/>
              <a:ext cx="318299" cy="3825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B</a:t>
              </a:r>
              <a:endParaRPr lang="ko-KR" altLang="en-US" dirty="0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683699" y="4751702"/>
              <a:ext cx="1484808" cy="1413602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64920" y="4293096"/>
              <a:ext cx="31133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06528" y="3719940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c()</a:t>
              </a:r>
              <a:endParaRPr lang="ko-KR" alt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53515" y="4283804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b()</a:t>
              </a:r>
              <a:endParaRPr lang="ko-KR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96136" y="4907696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a()</a:t>
              </a:r>
              <a:endParaRPr lang="ko-KR" altLang="en-US" dirty="0"/>
            </a:p>
          </p:txBody>
        </p:sp>
        <p:cxnSp>
          <p:nvCxnSpPr>
            <p:cNvPr id="28" name="직선 화살표 연결선 27"/>
            <p:cNvCxnSpPr/>
            <p:nvPr/>
          </p:nvCxnSpPr>
          <p:spPr>
            <a:xfrm>
              <a:off x="3563888" y="3719940"/>
              <a:ext cx="864096" cy="358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/>
            <p:nvPr/>
          </p:nvCxnSpPr>
          <p:spPr>
            <a:xfrm>
              <a:off x="3495032" y="3929238"/>
              <a:ext cx="932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/>
            <p:nvPr/>
          </p:nvCxnSpPr>
          <p:spPr>
            <a:xfrm flipV="1">
              <a:off x="3563888" y="4089272"/>
              <a:ext cx="864096" cy="203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내용 개체 틀 2"/>
          <p:cNvSpPr txBox="1">
            <a:spLocks/>
          </p:cNvSpPr>
          <p:nvPr/>
        </p:nvSpPr>
        <p:spPr>
          <a:xfrm>
            <a:off x="353123" y="1378868"/>
            <a:ext cx="8572560" cy="225597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A, B, C</a:t>
            </a:r>
            <a:r>
              <a:rPr lang="ko-KR" altLang="en-US" sz="1800" b="1" dirty="0"/>
              <a:t>라는 클래스가 있고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각각의 클래스는 </a:t>
            </a:r>
            <a:r>
              <a:rPr lang="en-US" altLang="ko-KR" sz="1800" b="1" dirty="0"/>
              <a:t>a(), b(), c()</a:t>
            </a:r>
            <a:r>
              <a:rPr lang="ko-KR" altLang="en-US" sz="1800" b="1" dirty="0"/>
              <a:t>라는 함수를 가지고 있다</a:t>
            </a:r>
            <a:r>
              <a:rPr lang="en-US" altLang="ko-KR" sz="1800" b="1" dirty="0"/>
              <a:t>.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en-US" altLang="ko-KR" sz="1800" b="1" dirty="0"/>
              <a:t>C</a:t>
            </a:r>
            <a:r>
              <a:rPr lang="ko-KR" altLang="en-US" sz="1800" b="1" dirty="0"/>
              <a:t>가 </a:t>
            </a:r>
            <a:r>
              <a:rPr lang="en-US" altLang="ko-KR" sz="1800" b="1" dirty="0"/>
              <a:t>B</a:t>
            </a:r>
            <a:r>
              <a:rPr lang="ko-KR" altLang="en-US" sz="1800" b="1" dirty="0"/>
              <a:t>를 상속하고</a:t>
            </a:r>
            <a:r>
              <a:rPr lang="en-US" altLang="ko-KR" sz="1800" b="1" dirty="0"/>
              <a:t>, B</a:t>
            </a:r>
            <a:r>
              <a:rPr lang="ko-KR" altLang="en-US" sz="1800" b="1" dirty="0"/>
              <a:t>가 </a:t>
            </a:r>
            <a:r>
              <a:rPr lang="en-US" altLang="ko-KR" sz="1800" b="1" dirty="0"/>
              <a:t>A</a:t>
            </a:r>
            <a:r>
              <a:rPr lang="ko-KR" altLang="en-US" sz="1800" b="1" dirty="0"/>
              <a:t>를 상속하는 관계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76997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47119"/>
            <a:ext cx="4809620" cy="5131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196" y="2703304"/>
            <a:ext cx="2486025" cy="2114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034874"/>
            <a:ext cx="3898787" cy="147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38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80728"/>
            <a:ext cx="4809620" cy="5131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159" y="2429740"/>
            <a:ext cx="2514044" cy="2530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036416"/>
            <a:ext cx="3489150" cy="12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8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21" y="958857"/>
            <a:ext cx="4809620" cy="5131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035" y="2924944"/>
            <a:ext cx="3028950" cy="3019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905351"/>
            <a:ext cx="4300349" cy="140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7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511152" y="5405440"/>
            <a:ext cx="6589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“</a:t>
            </a:r>
            <a:r>
              <a:rPr lang="ko-KR" altLang="en-US" b="1" i="1" dirty="0"/>
              <a:t>실제로 가리키는 대상은 </a:t>
            </a:r>
            <a:r>
              <a:rPr lang="en-US" altLang="ko-KR" b="1" i="1" dirty="0" err="1"/>
              <a:t>ScholarStd</a:t>
            </a:r>
            <a:r>
              <a:rPr lang="en-US" altLang="ko-KR" b="1" i="1" dirty="0"/>
              <a:t> </a:t>
            </a:r>
            <a:r>
              <a:rPr lang="ko-KR" altLang="en-US" b="1" i="1" dirty="0" err="1"/>
              <a:t>객체니까</a:t>
            </a:r>
            <a:br>
              <a:rPr lang="en-US" altLang="ko-KR" b="1" i="1" dirty="0"/>
            </a:br>
            <a:r>
              <a:rPr lang="en-US" altLang="ko-KR" b="1" i="1" dirty="0"/>
              <a:t>			</a:t>
            </a:r>
            <a:r>
              <a:rPr lang="ko-KR" altLang="en-US" b="1" i="1" dirty="0" err="1"/>
              <a:t>컴파일되어야</a:t>
            </a:r>
            <a:r>
              <a:rPr lang="ko-KR" altLang="en-US" b="1" i="1" dirty="0"/>
              <a:t> 정상이 아닌가</a:t>
            </a:r>
            <a:r>
              <a:rPr lang="en-US" altLang="ko-KR" b="1" i="1" dirty="0"/>
              <a:t>???”</a:t>
            </a:r>
            <a:endParaRPr lang="ko-KR" altLang="en-US" b="1" i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444" y="1287501"/>
            <a:ext cx="4448796" cy="3801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683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60215" y="5313982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“</a:t>
            </a:r>
            <a:r>
              <a:rPr lang="ko-KR" altLang="en-US" b="1" i="1" dirty="0"/>
              <a:t>컴파일러는 포인터 연산의 가능성 여부를 판단할 때</a:t>
            </a:r>
            <a:r>
              <a:rPr lang="en-US" altLang="ko-KR" b="1" i="1" dirty="0"/>
              <a:t>,</a:t>
            </a:r>
            <a:br>
              <a:rPr lang="en-US" altLang="ko-KR" b="1" i="1" dirty="0"/>
            </a:br>
            <a:r>
              <a:rPr lang="en-US" altLang="ko-KR" b="1" i="1" dirty="0"/>
              <a:t>	</a:t>
            </a:r>
            <a:r>
              <a:rPr lang="ko-KR" altLang="en-US" b="1" i="1" dirty="0"/>
              <a:t>포인터 </a:t>
            </a:r>
            <a:r>
              <a:rPr lang="ko-KR" altLang="en-US" b="1" i="1" dirty="0" err="1"/>
              <a:t>자료형의</a:t>
            </a:r>
            <a:r>
              <a:rPr lang="ko-KR" altLang="en-US" b="1" i="1" dirty="0"/>
              <a:t> 기준으로 판단한다</a:t>
            </a:r>
            <a:r>
              <a:rPr lang="en-US" altLang="ko-KR" b="1" i="1" dirty="0"/>
              <a:t>!</a:t>
            </a:r>
          </a:p>
          <a:p>
            <a:r>
              <a:rPr lang="en-US" altLang="ko-KR" b="1" i="1" dirty="0"/>
              <a:t>		</a:t>
            </a:r>
            <a:r>
              <a:rPr lang="ko-KR" altLang="en-US" b="1" i="1" dirty="0"/>
              <a:t>실제 가리키는 객체의 </a:t>
            </a:r>
            <a:r>
              <a:rPr lang="ko-KR" altLang="en-US" b="1" i="1" dirty="0" err="1"/>
              <a:t>자료형인지</a:t>
            </a:r>
            <a:r>
              <a:rPr lang="ko-KR" altLang="en-US" b="1" i="1" dirty="0"/>
              <a:t> 판단하지 않아</a:t>
            </a:r>
            <a:r>
              <a:rPr lang="en-US" altLang="ko-KR" b="1" i="1" dirty="0"/>
              <a:t>!”</a:t>
            </a:r>
            <a:endParaRPr lang="ko-KR" altLang="en-US" b="1" i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121947"/>
            <a:ext cx="4393728" cy="40352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311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 포인터와 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115" y="1196752"/>
            <a:ext cx="4269085" cy="45206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71600" y="5882922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“</a:t>
            </a:r>
            <a:r>
              <a:rPr lang="ko-KR" altLang="en-US" b="1" i="1" dirty="0"/>
              <a:t>포인터 형에 해당하는 클래스에 정의된 멤버에만 접근이 가능하다</a:t>
            </a:r>
            <a:r>
              <a:rPr lang="en-US" altLang="ko-KR" b="1" i="1" dirty="0"/>
              <a:t>!＂</a:t>
            </a:r>
            <a:endParaRPr lang="ko-KR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3249952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en-US" altLang="ko-KR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Overloading vs. Overriding</a:t>
            </a:r>
            <a:endParaRPr lang="ko-KR" altLang="en-US" sz="36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323528" y="1402046"/>
            <a:ext cx="8229600" cy="4709160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latin typeface="+mn-lt"/>
              </a:rPr>
              <a:t>Overloading</a:t>
            </a:r>
            <a:br>
              <a:rPr lang="en-US" altLang="ko-KR" sz="2000" b="1" dirty="0">
                <a:latin typeface="+mn-lt"/>
              </a:rPr>
            </a:br>
            <a:r>
              <a:rPr lang="ko-KR" altLang="en-US" sz="2000" dirty="0">
                <a:latin typeface="+mn-lt"/>
              </a:rPr>
              <a:t>하나의 함수 이름으로 인자나 리턴 값이 서로 다른 여러 함수를 정의 </a:t>
            </a:r>
            <a:r>
              <a:rPr lang="en-US" altLang="ko-KR" sz="2000" dirty="0">
                <a:latin typeface="+mn-lt"/>
              </a:rPr>
              <a:t>(</a:t>
            </a:r>
            <a:r>
              <a:rPr lang="ko-KR" altLang="en-US" sz="2000" dirty="0">
                <a:latin typeface="+mn-lt"/>
              </a:rPr>
              <a:t>중복정의</a:t>
            </a:r>
            <a:r>
              <a:rPr lang="en-US" altLang="ko-KR" sz="2000" dirty="0">
                <a:latin typeface="+mn-lt"/>
              </a:rPr>
              <a:t>). </a:t>
            </a:r>
            <a:r>
              <a:rPr lang="ko-KR" altLang="en-US" sz="2000" dirty="0">
                <a:latin typeface="+mn-lt"/>
              </a:rPr>
              <a:t>인자의 타입과 개수로 함수를 구분</a:t>
            </a:r>
            <a:br>
              <a:rPr lang="en-US" altLang="ko-KR" sz="2000" dirty="0">
                <a:latin typeface="+mn-lt"/>
              </a:rPr>
            </a:br>
            <a:endParaRPr lang="en-US" altLang="ko-KR" sz="2000" dirty="0">
              <a:latin typeface="+mn-lt"/>
            </a:endParaRPr>
          </a:p>
          <a:p>
            <a:r>
              <a:rPr lang="en-US" altLang="ko-KR" sz="2800" b="1" dirty="0">
                <a:latin typeface="+mn-lt"/>
              </a:rPr>
              <a:t>Overriding</a:t>
            </a:r>
            <a:br>
              <a:rPr lang="en-US" altLang="ko-KR" sz="2000" b="1" dirty="0">
                <a:latin typeface="+mn-lt"/>
              </a:rPr>
            </a:br>
            <a:r>
              <a:rPr lang="en-US" altLang="ko-KR" sz="2000" dirty="0">
                <a:latin typeface="+mn-lt"/>
              </a:rPr>
              <a:t>Base class</a:t>
            </a:r>
            <a:r>
              <a:rPr lang="ko-KR" altLang="en-US" sz="2000" dirty="0">
                <a:latin typeface="+mn-lt"/>
              </a:rPr>
              <a:t>의 함수를 </a:t>
            </a:r>
            <a:r>
              <a:rPr lang="en-US" altLang="ko-KR" sz="2000" dirty="0">
                <a:latin typeface="+mn-lt"/>
              </a:rPr>
              <a:t>derived class</a:t>
            </a:r>
            <a:r>
              <a:rPr lang="ko-KR" altLang="en-US" sz="2000" dirty="0">
                <a:latin typeface="+mn-lt"/>
              </a:rPr>
              <a:t>에서 새롭게 정의 </a:t>
            </a:r>
            <a:r>
              <a:rPr lang="en-US" altLang="ko-KR" sz="2000" dirty="0">
                <a:latin typeface="+mn-lt"/>
              </a:rPr>
              <a:t>(</a:t>
            </a:r>
            <a:r>
              <a:rPr lang="ko-KR" altLang="en-US" sz="2000" dirty="0">
                <a:latin typeface="+mn-lt"/>
              </a:rPr>
              <a:t>재정의</a:t>
            </a:r>
            <a:r>
              <a:rPr lang="en-US" altLang="ko-KR" sz="2000" dirty="0">
                <a:latin typeface="+mn-lt"/>
              </a:rPr>
              <a:t>). Base class</a:t>
            </a:r>
            <a:r>
              <a:rPr lang="ko-KR" altLang="en-US" sz="2000" dirty="0">
                <a:latin typeface="+mn-lt"/>
              </a:rPr>
              <a:t>의 함수와 함수 이름</a:t>
            </a:r>
            <a:r>
              <a:rPr lang="en-US" altLang="ko-KR" sz="2000" dirty="0">
                <a:latin typeface="+mn-lt"/>
              </a:rPr>
              <a:t>, </a:t>
            </a:r>
            <a:r>
              <a:rPr lang="ko-KR" altLang="en-US" sz="2000" dirty="0">
                <a:latin typeface="+mn-lt"/>
              </a:rPr>
              <a:t>인자</a:t>
            </a:r>
            <a:r>
              <a:rPr lang="en-US" altLang="ko-KR" sz="2000" dirty="0">
                <a:latin typeface="+mn-lt"/>
              </a:rPr>
              <a:t> </a:t>
            </a:r>
            <a:r>
              <a:rPr lang="ko-KR" altLang="en-US" sz="2000" dirty="0">
                <a:latin typeface="+mn-lt"/>
              </a:rPr>
              <a:t>등이 모두 같아야 함</a:t>
            </a:r>
            <a:br>
              <a:rPr lang="en-US" altLang="ko-KR" sz="2000" dirty="0">
                <a:latin typeface="+mn-lt"/>
              </a:rPr>
            </a:br>
            <a:endParaRPr lang="en-US" altLang="ko-KR" sz="2000" dirty="0">
              <a:latin typeface="+mn-lt"/>
            </a:endParaRPr>
          </a:p>
          <a:p>
            <a:r>
              <a:rPr lang="en-US" altLang="ko-KR" sz="2800" b="1" dirty="0">
                <a:latin typeface="+mn-lt"/>
              </a:rPr>
              <a:t>Overriding</a:t>
            </a:r>
            <a:r>
              <a:rPr lang="ko-KR" altLang="en-US" sz="2800" b="1" dirty="0">
                <a:latin typeface="+mn-lt"/>
              </a:rPr>
              <a:t>의 특징</a:t>
            </a:r>
            <a:endParaRPr lang="en-US" altLang="ko-KR" sz="2800" b="1" dirty="0">
              <a:latin typeface="+mn-lt"/>
            </a:endParaRPr>
          </a:p>
          <a:p>
            <a:pPr marL="1080000" indent="-514350">
              <a:buFont typeface="Wingdings" pitchFamily="2" charset="2"/>
              <a:buChar char="§"/>
            </a:pPr>
            <a:r>
              <a:rPr lang="en-US" altLang="ko-KR" sz="2000" dirty="0">
                <a:latin typeface="+mn-lt"/>
              </a:rPr>
              <a:t>Base class</a:t>
            </a:r>
            <a:r>
              <a:rPr lang="ko-KR" altLang="en-US" sz="2000" dirty="0">
                <a:latin typeface="+mn-lt"/>
              </a:rPr>
              <a:t>의 멤버를 가리는 효과 </a:t>
            </a:r>
            <a:r>
              <a:rPr lang="en-US" altLang="ko-KR" sz="2000" dirty="0">
                <a:latin typeface="+mn-lt"/>
              </a:rPr>
              <a:t>(</a:t>
            </a:r>
            <a:r>
              <a:rPr lang="ko-KR" altLang="en-US" sz="2000" dirty="0">
                <a:latin typeface="+mn-lt"/>
              </a:rPr>
              <a:t>은닉</a:t>
            </a:r>
            <a:r>
              <a:rPr lang="en-US" altLang="ko-KR" sz="2000" dirty="0">
                <a:latin typeface="+mn-lt"/>
              </a:rPr>
              <a:t>)</a:t>
            </a:r>
          </a:p>
          <a:p>
            <a:pPr marL="1080000" indent="-514350">
              <a:buFont typeface="Wingdings" pitchFamily="2" charset="2"/>
              <a:buChar char="§"/>
            </a:pPr>
            <a:r>
              <a:rPr lang="ko-KR" altLang="en-US" sz="2000" dirty="0">
                <a:latin typeface="+mn-lt"/>
              </a:rPr>
              <a:t>보는 시야 </a:t>
            </a:r>
            <a:r>
              <a:rPr lang="en-US" altLang="ko-KR" sz="2000" dirty="0">
                <a:latin typeface="+mn-lt"/>
              </a:rPr>
              <a:t>(pointer)</a:t>
            </a:r>
            <a:r>
              <a:rPr lang="ko-KR" altLang="en-US" sz="2000" dirty="0">
                <a:latin typeface="+mn-lt"/>
              </a:rPr>
              <a:t>에 따라 달라지는 효과</a:t>
            </a:r>
          </a:p>
        </p:txBody>
      </p:sp>
    </p:spTree>
    <p:extLst>
      <p:ext uri="{BB962C8B-B14F-4D97-AF65-F5344CB8AC3E}">
        <p14:creationId xmlns:p14="http://schemas.microsoft.com/office/powerpoint/2010/main" val="309710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함수 </a:t>
            </a:r>
            <a:r>
              <a:rPr lang="ko-KR" altLang="en-US" sz="36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오버라이딩</a:t>
            </a:r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(Function Overriding)</a:t>
            </a:r>
            <a:endParaRPr lang="ko-KR" altLang="en-US" sz="36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21724" y="1412776"/>
            <a:ext cx="8572560" cy="225597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함수 </a:t>
            </a:r>
            <a:r>
              <a:rPr lang="ko-KR" altLang="en-US" sz="1800" b="1" dirty="0" err="1"/>
              <a:t>오버라이딩이란</a:t>
            </a:r>
            <a:r>
              <a:rPr lang="ko-KR" altLang="en-US" sz="1800" b="1" dirty="0"/>
              <a:t> 이미 있는 함수를 무시하고 새로운 함수를 재정의하는 것</a:t>
            </a:r>
            <a:r>
              <a:rPr lang="en-US" altLang="ko-KR" sz="1800" b="1" dirty="0"/>
              <a:t>!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부모 클래스와 자식 클래스 상속 관계에서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부모 클래스에서 이미 정의된</a:t>
            </a:r>
            <a:br>
              <a:rPr lang="en-US" altLang="ko-KR" sz="1800" b="1" dirty="0"/>
            </a:br>
            <a:r>
              <a:rPr lang="ko-KR" altLang="en-US" sz="1800" b="1" dirty="0"/>
              <a:t>함수를 같은 이름으로 자식 클래스에서 재정의하는 것</a:t>
            </a:r>
            <a:r>
              <a:rPr lang="en-US" altLang="ko-KR" sz="1800" b="1" dirty="0"/>
              <a:t>!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함수의 원형은 완전히 같아야 하고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오버라이딩</a:t>
            </a:r>
            <a:r>
              <a:rPr lang="ko-KR" altLang="en-US" sz="1800" b="1" dirty="0"/>
              <a:t> 시 부모 클래스 함수는</a:t>
            </a:r>
            <a:br>
              <a:rPr lang="en-US" altLang="ko-KR" sz="1800" b="1" dirty="0"/>
            </a:br>
            <a:r>
              <a:rPr lang="ko-KR" altLang="en-US" sz="1800" b="1" dirty="0"/>
              <a:t>모두 가려진다</a:t>
            </a:r>
            <a:r>
              <a:rPr lang="en-US" altLang="ko-KR" sz="1800" b="1" dirty="0"/>
              <a:t>!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999" y="3582083"/>
            <a:ext cx="5340009" cy="27497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139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함수 </a:t>
            </a:r>
            <a:r>
              <a:rPr lang="ko-KR" altLang="en-US" sz="36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오버라이딩</a:t>
            </a:r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(Function Overriding)</a:t>
            </a:r>
            <a:endParaRPr lang="ko-KR" altLang="en-US" sz="36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500015"/>
            <a:ext cx="5494040" cy="44752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652143"/>
            <a:ext cx="2808312" cy="21777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886" y="1202316"/>
            <a:ext cx="33718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6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가상 함수 </a:t>
            </a:r>
            <a:r>
              <a:rPr lang="en-US" altLang="ko-KR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(Virtual Function)</a:t>
            </a:r>
            <a:endParaRPr lang="ko-KR" altLang="en-US" sz="36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90537"/>
            <a:ext cx="4918526" cy="4107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065813"/>
            <a:ext cx="4038923" cy="35092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3" y="1196752"/>
            <a:ext cx="3779488" cy="165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8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가상 함수 </a:t>
            </a:r>
            <a:r>
              <a:rPr lang="en-US" altLang="ko-KR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(Virtual Function)</a:t>
            </a:r>
            <a:endParaRPr lang="ko-KR" altLang="en-US" sz="36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70262"/>
            <a:ext cx="5999299" cy="43924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186486"/>
            <a:ext cx="3819439" cy="3279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888" y="1263944"/>
            <a:ext cx="4061310" cy="16319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544" y="5769482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“</a:t>
            </a:r>
            <a:r>
              <a:rPr lang="ko-KR" altLang="en-US" b="1" i="1" dirty="0"/>
              <a:t>이제</a:t>
            </a:r>
            <a:r>
              <a:rPr lang="en-US" altLang="ko-KR" b="1" i="1" dirty="0"/>
              <a:t> </a:t>
            </a:r>
            <a:r>
              <a:rPr lang="ko-KR" altLang="en-US" b="1" i="1" dirty="0"/>
              <a:t>실제 가리키는 객체를 참조하네</a:t>
            </a:r>
            <a:r>
              <a:rPr lang="en-US" altLang="ko-KR" b="1" i="1" dirty="0"/>
              <a:t>!”</a:t>
            </a:r>
            <a:endParaRPr lang="ko-KR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356807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가상 함수 </a:t>
            </a:r>
            <a:r>
              <a:rPr lang="en-US" altLang="ko-KR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(Virtual Function)</a:t>
            </a:r>
            <a:endParaRPr lang="ko-KR" altLang="en-US" sz="36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0728"/>
            <a:ext cx="6048672" cy="5280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840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순수 가상 함수와 추상 클래스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21724" y="1412776"/>
            <a:ext cx="8572560" cy="30963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함수의 선언만 있고 정의는 없다</a:t>
            </a:r>
            <a:r>
              <a:rPr lang="en-US" altLang="ko-KR" sz="1800" b="1" dirty="0"/>
              <a:t>!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따라서 </a:t>
            </a:r>
            <a:r>
              <a:rPr lang="en-US" altLang="ko-KR" sz="1800" b="1" dirty="0"/>
              <a:t>derived</a:t>
            </a:r>
            <a:r>
              <a:rPr lang="ko-KR" altLang="en-US" sz="1800" b="1" dirty="0"/>
              <a:t> 클래스에서 반드시 재정의해야만 한다</a:t>
            </a:r>
            <a:r>
              <a:rPr lang="en-US" altLang="ko-KR" sz="1800" b="1" dirty="0"/>
              <a:t>!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en-US" altLang="ko-KR" sz="1800" b="1" dirty="0"/>
              <a:t>virtual void </a:t>
            </a:r>
            <a:r>
              <a:rPr lang="en-US" altLang="ko-KR" sz="1800" b="1" dirty="0" err="1"/>
              <a:t>Func</a:t>
            </a:r>
            <a:r>
              <a:rPr lang="en-US" altLang="ko-KR" sz="1800" b="1" dirty="0"/>
              <a:t>() = 0;	</a:t>
            </a:r>
            <a:r>
              <a:rPr lang="en-US" altLang="ko-KR" sz="1800" b="1" dirty="0">
                <a:solidFill>
                  <a:schemeClr val="accent3">
                    <a:lumMod val="75000"/>
                  </a:schemeClr>
                </a:solidFill>
              </a:rPr>
              <a:t>// </a:t>
            </a:r>
            <a:r>
              <a:rPr lang="ko-KR" altLang="en-US" sz="1800" b="1" dirty="0">
                <a:solidFill>
                  <a:schemeClr val="accent3">
                    <a:lumMod val="75000"/>
                  </a:schemeClr>
                </a:solidFill>
              </a:rPr>
              <a:t>뒷부분에 </a:t>
            </a:r>
            <a:r>
              <a:rPr lang="en-US" altLang="ko-KR" sz="1800" b="1" dirty="0">
                <a:solidFill>
                  <a:schemeClr val="accent3">
                    <a:lumMod val="75000"/>
                  </a:schemeClr>
                </a:solidFill>
              </a:rPr>
              <a:t>= 0; </a:t>
            </a:r>
            <a:r>
              <a:rPr lang="ko-KR" altLang="en-US" sz="1800" b="1" dirty="0">
                <a:solidFill>
                  <a:schemeClr val="accent3">
                    <a:lumMod val="75000"/>
                  </a:schemeClr>
                </a:solidFill>
              </a:rPr>
              <a:t>을 덧붙이면 됨</a:t>
            </a:r>
            <a:r>
              <a:rPr lang="en-US" altLang="ko-KR" sz="1800" b="1" dirty="0">
                <a:solidFill>
                  <a:schemeClr val="accent3">
                    <a:lumMod val="75000"/>
                  </a:schemeClr>
                </a:solidFill>
              </a:rPr>
              <a:t>!</a:t>
            </a:r>
            <a:br>
              <a:rPr lang="en-US" altLang="ko-KR" sz="1800" b="1" dirty="0">
                <a:solidFill>
                  <a:schemeClr val="accent3">
                    <a:lumMod val="75000"/>
                  </a:schemeClr>
                </a:solidFill>
              </a:rPr>
            </a:br>
            <a:endParaRPr lang="en-US" altLang="ko-KR" sz="1800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ko-KR" altLang="en-US" sz="1800" b="1" dirty="0"/>
              <a:t>순수 가상 함수를 갖는 클래스를 추상 클래스 </a:t>
            </a:r>
            <a:r>
              <a:rPr lang="en-US" altLang="ko-KR" sz="1800" b="1" dirty="0"/>
              <a:t>(abstract class)</a:t>
            </a:r>
            <a:r>
              <a:rPr lang="ko-KR" altLang="en-US" sz="1800" b="1" dirty="0"/>
              <a:t>라고 한다</a:t>
            </a:r>
            <a:r>
              <a:rPr lang="en-US" altLang="ko-KR" sz="1800" b="1" dirty="0"/>
              <a:t>.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추상 클래스는 객체화는 불가능하지만 </a:t>
            </a:r>
            <a:r>
              <a:rPr lang="ko-KR" altLang="en-US" sz="1800" b="1" dirty="0">
                <a:solidFill>
                  <a:srgbClr val="C00000"/>
                </a:solidFill>
              </a:rPr>
              <a:t>포인터 선언</a:t>
            </a:r>
            <a:r>
              <a:rPr lang="ko-KR" altLang="en-US" sz="1800" b="1" dirty="0"/>
              <a:t>은 가능하다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5013176"/>
            <a:ext cx="7850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i="1" dirty="0"/>
              <a:t>“</a:t>
            </a:r>
            <a:r>
              <a:rPr lang="ko-KR" altLang="en-US" sz="2400" b="1" i="1" dirty="0"/>
              <a:t>클래스 중에는 객체 생성을 목적으로 할 뿐</a:t>
            </a:r>
            <a:r>
              <a:rPr lang="en-US" altLang="ko-KR" sz="2400" b="1" i="1" dirty="0"/>
              <a:t>, </a:t>
            </a:r>
            <a:br>
              <a:rPr lang="en-US" altLang="ko-KR" sz="2400" b="1" i="1" dirty="0"/>
            </a:br>
            <a:r>
              <a:rPr lang="en-US" altLang="ko-KR" sz="2400" b="1" i="1" dirty="0"/>
              <a:t>		</a:t>
            </a:r>
            <a:r>
              <a:rPr lang="ko-KR" altLang="en-US" sz="2400" b="1" i="1" dirty="0"/>
              <a:t>정의되지 않는 클래스도 존재할 수 있음</a:t>
            </a:r>
            <a:r>
              <a:rPr lang="en-US" altLang="ko-KR" sz="2400" b="1" i="1" dirty="0"/>
              <a:t>!!”</a:t>
            </a:r>
            <a:endParaRPr lang="ko-KR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91791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0" y="1816040"/>
            <a:ext cx="9710464" cy="4421272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+mn-lt"/>
              </a:rPr>
              <a:t>요구사항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Abstract class</a:t>
            </a:r>
            <a:r>
              <a:rPr lang="ko-KR" altLang="en-US" sz="1800" dirty="0">
                <a:latin typeface="+mn-lt"/>
              </a:rPr>
              <a:t>인 </a:t>
            </a:r>
            <a:r>
              <a:rPr lang="en-US" altLang="ko-KR" sz="1800" dirty="0">
                <a:latin typeface="+mn-lt"/>
              </a:rPr>
              <a:t>Delivery class</a:t>
            </a:r>
            <a:r>
              <a:rPr lang="ko-KR" altLang="en-US" sz="1800" dirty="0">
                <a:latin typeface="+mn-lt"/>
              </a:rPr>
              <a:t>와 이를 상속하는 </a:t>
            </a:r>
            <a:r>
              <a:rPr lang="en-US" altLang="ko-KR" sz="1800" dirty="0">
                <a:latin typeface="+mn-lt"/>
              </a:rPr>
              <a:t>EMS, </a:t>
            </a:r>
            <a:r>
              <a:rPr lang="en-US" altLang="ko-KR" sz="1800" dirty="0" err="1">
                <a:latin typeface="+mn-lt"/>
              </a:rPr>
              <a:t>SelfPack</a:t>
            </a:r>
            <a:r>
              <a:rPr lang="en-US" altLang="ko-KR" sz="1800" dirty="0">
                <a:latin typeface="+mn-lt"/>
              </a:rPr>
              <a:t> class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(</a:t>
            </a:r>
            <a:r>
              <a:rPr lang="ko-KR" altLang="en-US" sz="1800" dirty="0">
                <a:latin typeface="+mn-lt"/>
              </a:rPr>
              <a:t>구현 파일과 헤더 파일 나누지 않을 시 감점</a:t>
            </a:r>
            <a:r>
              <a:rPr lang="en-US" altLang="ko-KR" sz="1800" dirty="0">
                <a:latin typeface="+mn-lt"/>
              </a:rPr>
              <a:t>)</a:t>
            </a:r>
          </a:p>
          <a:p>
            <a:pPr lvl="1"/>
            <a:r>
              <a:rPr lang="ko-KR" altLang="en-US" sz="1800" dirty="0">
                <a:latin typeface="+mn-lt"/>
              </a:rPr>
              <a:t>수신인 정보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화물의 무게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택배 서비스 종류를 사용자가 입력</a:t>
            </a:r>
            <a:r>
              <a:rPr lang="en-US" altLang="ko-KR" sz="1800" dirty="0">
                <a:latin typeface="+mn-lt"/>
              </a:rPr>
              <a:t>.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dirty="0" err="1">
                <a:latin typeface="+mn-lt"/>
              </a:rPr>
              <a:t>SelfPack</a:t>
            </a:r>
            <a:r>
              <a:rPr lang="en-US" altLang="ko-KR" sz="1800" dirty="0">
                <a:latin typeface="+mn-lt"/>
              </a:rPr>
              <a:t> </a:t>
            </a:r>
            <a:r>
              <a:rPr lang="ko-KR" altLang="en-US" sz="1800" dirty="0">
                <a:latin typeface="+mn-lt"/>
              </a:rPr>
              <a:t>서비스 이용 시 운송 수단도 선택</a:t>
            </a:r>
            <a:r>
              <a:rPr lang="en-US" altLang="ko-KR" sz="1800" dirty="0">
                <a:latin typeface="+mn-lt"/>
              </a:rPr>
              <a:t>)</a:t>
            </a:r>
            <a:endParaRPr lang="ko-KR" altLang="en-US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위 입력 종료 후 생성자에 의해 접수 완료 메시지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운송장 번호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운송 수단 출력</a:t>
            </a:r>
            <a:r>
              <a:rPr lang="en-US" altLang="ko-KR" sz="1800" dirty="0">
                <a:latin typeface="+mn-lt"/>
              </a:rPr>
              <a:t>.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EMS </a:t>
            </a:r>
            <a:r>
              <a:rPr lang="ko-KR" altLang="en-US" sz="1800" dirty="0">
                <a:latin typeface="+mn-lt"/>
              </a:rPr>
              <a:t>서비스 이용 시 생성자에서 운송장 번호 생성 </a:t>
            </a:r>
            <a:r>
              <a:rPr lang="en-US" altLang="ko-KR" sz="1800" dirty="0">
                <a:latin typeface="+mn-lt"/>
              </a:rPr>
              <a:t>(4</a:t>
            </a:r>
            <a:r>
              <a:rPr lang="ko-KR" altLang="en-US" sz="1800" dirty="0">
                <a:latin typeface="+mn-lt"/>
              </a:rPr>
              <a:t>자리 </a:t>
            </a:r>
            <a:r>
              <a:rPr lang="ko-KR" altLang="en-US" sz="1800" dirty="0" err="1">
                <a:latin typeface="+mn-lt"/>
              </a:rPr>
              <a:t>랜덤수</a:t>
            </a:r>
            <a:r>
              <a:rPr lang="en-US" altLang="ko-KR" sz="1800" dirty="0">
                <a:latin typeface="+mn-lt"/>
              </a:rPr>
              <a:t>)</a:t>
            </a:r>
            <a:br>
              <a:rPr lang="en-US" altLang="ko-KR" sz="1800" dirty="0">
                <a:latin typeface="+mn-lt"/>
              </a:rPr>
            </a:b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print(): </a:t>
            </a:r>
            <a:r>
              <a:rPr lang="ko-KR" altLang="en-US" sz="1800" dirty="0">
                <a:latin typeface="+mn-lt"/>
              </a:rPr>
              <a:t>영수증 출력</a:t>
            </a:r>
          </a:p>
          <a:p>
            <a:pPr lvl="1"/>
            <a:r>
              <a:rPr lang="en-US" altLang="ko-KR" sz="1800" dirty="0" err="1">
                <a:latin typeface="+mn-lt"/>
              </a:rPr>
              <a:t>printState</a:t>
            </a:r>
            <a:r>
              <a:rPr lang="en-US" altLang="ko-KR" sz="1800" dirty="0">
                <a:latin typeface="+mn-lt"/>
              </a:rPr>
              <a:t>(): </a:t>
            </a:r>
            <a:r>
              <a:rPr lang="ko-KR" altLang="en-US" sz="1800" dirty="0">
                <a:latin typeface="+mn-lt"/>
              </a:rPr>
              <a:t>배송 조회</a:t>
            </a:r>
          </a:p>
          <a:p>
            <a:pPr lvl="1"/>
            <a:r>
              <a:rPr lang="ko-KR" altLang="en-US" sz="1800" dirty="0">
                <a:latin typeface="+mn-lt"/>
              </a:rPr>
              <a:t>객체 포인터를 이용한 </a:t>
            </a:r>
            <a:r>
              <a:rPr lang="en-US" altLang="ko-KR" sz="1800" dirty="0">
                <a:latin typeface="+mn-lt"/>
              </a:rPr>
              <a:t>dynamic binding </a:t>
            </a:r>
            <a:r>
              <a:rPr lang="ko-KR" altLang="en-US" sz="1800" dirty="0">
                <a:latin typeface="+mn-lt"/>
              </a:rPr>
              <a:t>활용</a:t>
            </a:r>
            <a:br>
              <a:rPr lang="en-US" altLang="ko-KR" sz="1800" dirty="0">
                <a:latin typeface="+mn-lt"/>
              </a:rPr>
            </a:b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입출력은 자유롭게 구현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주석 필수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주석 없을 시에 감점</a:t>
            </a:r>
            <a:endParaRPr lang="en-US" altLang="ko-KR" sz="1800" dirty="0">
              <a:latin typeface="+mn-lt"/>
            </a:endParaRPr>
          </a:p>
          <a:p>
            <a:pPr lvl="1"/>
            <a:endParaRPr lang="en-US" altLang="ko-KR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Delivery class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Delivery class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051907"/>
            <a:ext cx="4686954" cy="54014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6497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EMS , </a:t>
            </a:r>
            <a:r>
              <a:rPr lang="en-US" altLang="ko-KR" sz="4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SelfPack</a:t>
            </a:r>
            <a:r>
              <a:rPr lang="en-US" altLang="ko-KR" sz="40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class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33270"/>
            <a:ext cx="3715268" cy="2848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284984"/>
            <a:ext cx="5868219" cy="2867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26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208" y="43448"/>
            <a:ext cx="7164288" cy="631491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411760" y="404664"/>
            <a:ext cx="115212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411760" y="62068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771800" y="836712"/>
            <a:ext cx="93610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397175" y="991032"/>
            <a:ext cx="5906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588224" y="2348880"/>
            <a:ext cx="288031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572000" y="5517232"/>
            <a:ext cx="5760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52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3752"/>
            <a:ext cx="6984484" cy="630043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555776" y="404664"/>
            <a:ext cx="115212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555776" y="62068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915816" y="836712"/>
            <a:ext cx="93610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41191" y="991032"/>
            <a:ext cx="5906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660233" y="2348880"/>
            <a:ext cx="288031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084168" y="2564904"/>
            <a:ext cx="288031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834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3752"/>
            <a:ext cx="6974957" cy="633868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555776" y="404664"/>
            <a:ext cx="115212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555776" y="62068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915816" y="836712"/>
            <a:ext cx="93610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541191" y="991032"/>
            <a:ext cx="5906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660232" y="2348880"/>
            <a:ext cx="288031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084168" y="2564904"/>
            <a:ext cx="288031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417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2453</TotalTime>
  <Words>291</Words>
  <Application>Microsoft Office PowerPoint</Application>
  <PresentationFormat>화면 슬라이드 쇼(4:3)</PresentationFormat>
  <Paragraphs>131</Paragraphs>
  <Slides>26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Arial Unicode MS</vt:lpstr>
      <vt:lpstr>맑은 고딕</vt:lpstr>
      <vt:lpstr>Arial</vt:lpstr>
      <vt:lpstr>Tahoma</vt:lpstr>
      <vt:lpstr>Times New Roman</vt:lpstr>
      <vt:lpstr>Wingdings</vt:lpstr>
      <vt:lpstr>Office 테마</vt:lpstr>
      <vt:lpstr>디자인 사용자 지정</vt:lpstr>
      <vt:lpstr>Object-oriented Programming</vt:lpstr>
      <vt:lpstr>Quiz…</vt:lpstr>
      <vt:lpstr>객체 포인터와 상속</vt:lpstr>
      <vt:lpstr>객체 포인터와 상속</vt:lpstr>
      <vt:lpstr>객체 포인터와 상속</vt:lpstr>
      <vt:lpstr>객체 포인터와 함수 사용</vt:lpstr>
      <vt:lpstr>객체 포인터와 함수 사용</vt:lpstr>
      <vt:lpstr>객체 포인터와 함수 사용</vt:lpstr>
      <vt:lpstr>객체 포인터와 함수 사용</vt:lpstr>
      <vt:lpstr>객체 포인터와 함수 사용</vt:lpstr>
      <vt:lpstr>객체 포인터와 함수 사용</vt:lpstr>
      <vt:lpstr>객체 포인터와 함수 사용</vt:lpstr>
      <vt:lpstr>Overloading vs. Overriding</vt:lpstr>
      <vt:lpstr>함수 오버라이딩 (Function Overriding)</vt:lpstr>
      <vt:lpstr>함수 오버라이딩 (Function Overriding)</vt:lpstr>
      <vt:lpstr>가상 함수 (Virtual Function)</vt:lpstr>
      <vt:lpstr>가상 함수 (Virtual Function)</vt:lpstr>
      <vt:lpstr>가상 함수 (Virtual Function)</vt:lpstr>
      <vt:lpstr>순수 가상 함수와 추상 클래스</vt:lpstr>
      <vt:lpstr>과제</vt:lpstr>
      <vt:lpstr>과제 – Delivery class</vt:lpstr>
      <vt:lpstr>과제 – EMS , SelfPack class</vt:lpstr>
      <vt:lpstr>결과1</vt:lpstr>
      <vt:lpstr>결과2</vt:lpstr>
      <vt:lpstr>결과3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243</cp:revision>
  <cp:lastPrinted>2015-10-28T23:12:44Z</cp:lastPrinted>
  <dcterms:created xsi:type="dcterms:W3CDTF">2012-06-15T20:49:53Z</dcterms:created>
  <dcterms:modified xsi:type="dcterms:W3CDTF">2016-10-27T01:51:39Z</dcterms:modified>
</cp:coreProperties>
</file>