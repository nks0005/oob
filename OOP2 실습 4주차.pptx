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20"/>
  </p:notesMasterIdLst>
  <p:handoutMasterIdLst>
    <p:handoutMasterId r:id="rId21"/>
  </p:handoutMasterIdLst>
  <p:sldIdLst>
    <p:sldId id="291" r:id="rId3"/>
    <p:sldId id="292" r:id="rId4"/>
    <p:sldId id="286" r:id="rId5"/>
    <p:sldId id="320" r:id="rId6"/>
    <p:sldId id="321" r:id="rId7"/>
    <p:sldId id="322" r:id="rId8"/>
    <p:sldId id="323" r:id="rId9"/>
    <p:sldId id="324" r:id="rId10"/>
    <p:sldId id="328" r:id="rId11"/>
    <p:sldId id="329" r:id="rId12"/>
    <p:sldId id="330" r:id="rId13"/>
    <p:sldId id="325" r:id="rId14"/>
    <p:sldId id="326" r:id="rId15"/>
    <p:sldId id="331" r:id="rId16"/>
    <p:sldId id="332" r:id="rId17"/>
    <p:sldId id="284" r:id="rId18"/>
    <p:sldId id="306" r:id="rId19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03" autoAdjust="0"/>
    <p:restoredTop sz="82021" autoAdjust="0"/>
  </p:normalViewPr>
  <p:slideViewPr>
    <p:cSldViewPr>
      <p:cViewPr varScale="1">
        <p:scale>
          <a:sx n="62" d="100"/>
          <a:sy n="62" d="100"/>
        </p:scale>
        <p:origin x="1974" y="7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CE3874-7BFA-4E6E-BE86-60B30CE4A117}" type="datetimeFigureOut">
              <a:rPr lang="ko-KR" altLang="en-US" smtClean="0">
                <a:latin typeface="Arial Unicode MS" panose="020B0604020202020204" pitchFamily="50" charset="-127"/>
                <a:ea typeface="Arial Unicode MS" panose="020B0604020202020204" pitchFamily="50" charset="-127"/>
              </a:rPr>
              <a:t>2016-09-22</a:t>
            </a:fld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B3E06-38D3-47EF-AE2A-C4CBEBCA5DE5}" type="slidenum">
              <a:rPr lang="ko-KR" altLang="en-US" smtClean="0">
                <a:latin typeface="Arial Unicode MS" panose="020B0604020202020204" pitchFamily="50" charset="-127"/>
                <a:ea typeface="Arial Unicode MS" panose="020B0604020202020204" pitchFamily="50" charset="-127"/>
              </a:rPr>
              <a:t>‹#›</a:t>
            </a:fld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80944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B139F31C-191E-4666-8F67-D37AE9CD3BE8}" type="datetimeFigureOut">
              <a:rPr lang="ko-KR" altLang="en-US" smtClean="0"/>
              <a:pPr/>
              <a:t>2016-09-22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5BF70FA3-CB09-4D27-BFC7-0900EDFEFCE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8156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556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6899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789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8867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7350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54535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7083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30248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9158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66181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5246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31819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0424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15574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8259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6034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58761-C7AC-4ADE-A25A-DF9FD0E8ABA4}" type="datetime1">
              <a:rPr lang="ko-KR" altLang="en-US" smtClean="0"/>
              <a:t>2016-09-22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354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952C0-5A51-423A-BFFF-6C1A9D868433}" type="datetime1">
              <a:rPr lang="ko-KR" altLang="en-US" smtClean="0"/>
              <a:t>2016-09-22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041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9331C-83AF-4C12-89EF-450C82CA4F44}" type="datetime1">
              <a:rPr lang="ko-KR" altLang="en-US" smtClean="0"/>
              <a:t>2016-09-22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7555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A0BFF-9A58-4775-9339-ECAA48BEE7D6}" type="datetime1">
              <a:rPr lang="ko-KR" altLang="en-US" smtClean="0"/>
              <a:t>2016-09-22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649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E2CC-0499-453B-AC2D-F2522AE35D71}" type="datetime1">
              <a:rPr lang="ko-KR" altLang="en-US" smtClean="0"/>
              <a:t>2016-09-22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4663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C783-6BB1-4F53-86B6-83B4A1FE8FAC}" type="datetime1">
              <a:rPr lang="ko-KR" altLang="en-US" smtClean="0"/>
              <a:t>2016-09-22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831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65D2D-D4AC-40BE-B792-71C1E46F7B81}" type="datetime1">
              <a:rPr lang="ko-KR" altLang="en-US" smtClean="0"/>
              <a:t>2016-09-22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299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E20A-35E3-4F0D-A3F8-3149666FD494}" type="datetime1">
              <a:rPr lang="ko-KR" altLang="en-US" smtClean="0"/>
              <a:t>2016-09-22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716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77B8-D269-40AA-BD66-0C9CE2A90C3C}" type="datetime1">
              <a:rPr lang="ko-KR" altLang="en-US" smtClean="0"/>
              <a:t>2016-09-22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117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1F70B-4ABC-4A1C-A2F3-ACDD254842BB}" type="datetime1">
              <a:rPr lang="ko-KR" altLang="en-US" smtClean="0"/>
              <a:t>2016-09-22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870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69847-BFB1-4862-BC1F-4B42CE510BE5}" type="datetime1">
              <a:rPr lang="ko-KR" altLang="en-US" smtClean="0"/>
              <a:t>2016-09-22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97490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7927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65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79899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2016-09-22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2134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2016-09-22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562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2016-09-22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85318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2016-09-22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2786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2016-09-22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40255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2016-09-22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89919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6747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744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3DCF4BCA-F02B-4388-9CC9-9E88F19F949E}" type="datetime1">
              <a:rPr lang="ko-KR" altLang="en-US" smtClean="0"/>
              <a:pPr/>
              <a:t>2016-09-22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6B102114-8B7A-4408-B8CB-F3C50019E68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6165304"/>
            <a:ext cx="2051720" cy="60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17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948E54-1C83-4620-B5DC-1C9270F95D6E}" type="datetimeFigureOut">
              <a:rPr lang="ko-KR" altLang="en-US" smtClean="0"/>
              <a:t>2016-09-22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021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6478" y="1844824"/>
            <a:ext cx="8892480" cy="1985392"/>
          </a:xfrm>
        </p:spPr>
        <p:txBody>
          <a:bodyPr>
            <a:normAutofit/>
          </a:bodyPr>
          <a:lstStyle/>
          <a:p>
            <a:r>
              <a:rPr lang="en-US" altLang="ko-KR" sz="4800" b="1" dirty="0">
                <a:solidFill>
                  <a:srgbClr val="C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Object-oriented Programming</a:t>
            </a:r>
            <a:endParaRPr lang="ko-KR" altLang="en-US" sz="4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4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112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1907704" y="4590256"/>
            <a:ext cx="6696744" cy="2079104"/>
          </a:xfrm>
        </p:spPr>
        <p:txBody>
          <a:bodyPr>
            <a:noAutofit/>
          </a:bodyPr>
          <a:lstStyle/>
          <a:p>
            <a:r>
              <a:rPr lang="ko-KR" altLang="en-US" sz="6600" dirty="0">
                <a:solidFill>
                  <a:srgbClr val="C00000"/>
                </a:solidFill>
                <a:effectLst>
                  <a:outerShdw blurRad="50800" dist="76200" dir="4200000" sx="102000" sy="102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연산자 오버로딩</a:t>
            </a:r>
            <a:endParaRPr lang="ko-KR" altLang="en-US" sz="9600" b="1" dirty="0">
              <a:solidFill>
                <a:srgbClr val="C00000"/>
              </a:solidFill>
              <a:effectLst>
                <a:outerShdw blurRad="50800" dist="76200" dir="4200000" sx="102000" sy="102000" algn="t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745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연산자 오버로딩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321724" y="1412776"/>
            <a:ext cx="8572560" cy="453650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b="1" dirty="0"/>
              <a:t>함수 오버로딩</a:t>
            </a:r>
            <a:r>
              <a:rPr lang="en-US" altLang="ko-KR" sz="1800" b="1" dirty="0"/>
              <a:t>, </a:t>
            </a:r>
            <a:r>
              <a:rPr lang="ko-KR" altLang="en-US" sz="1800" b="1" dirty="0"/>
              <a:t>이름은 하나지만 기능은 여러 가지인 함수</a:t>
            </a:r>
            <a:br>
              <a:rPr lang="en-US" altLang="ko-KR" sz="1800" b="1" dirty="0"/>
            </a:br>
            <a:endParaRPr lang="en-US" altLang="ko-KR" sz="1800" b="1" dirty="0"/>
          </a:p>
          <a:p>
            <a:r>
              <a:rPr lang="ko-KR" altLang="en-US" sz="1800" b="1" dirty="0"/>
              <a:t>연산자 오버로딩은 마찬가지로 연산자의 오버로딩을 통해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기존에 존재하는</a:t>
            </a:r>
            <a:br>
              <a:rPr lang="en-US" altLang="ko-KR" sz="1800" b="1" dirty="0"/>
            </a:br>
            <a:r>
              <a:rPr lang="ko-KR" altLang="en-US" sz="1800" b="1" dirty="0"/>
              <a:t>연산자의 기본 기능 외에 다른 기능을 추가하는 것</a:t>
            </a:r>
            <a:r>
              <a:rPr lang="en-US" altLang="ko-KR" sz="1800" b="1" dirty="0"/>
              <a:t>!</a:t>
            </a:r>
            <a:br>
              <a:rPr lang="en-US" altLang="ko-KR" sz="1800" b="1" dirty="0"/>
            </a:br>
            <a:endParaRPr lang="en-US" altLang="ko-KR" sz="1800" b="1" dirty="0"/>
          </a:p>
          <a:p>
            <a:r>
              <a:rPr lang="ko-KR" altLang="en-US" sz="1800" b="1" dirty="0"/>
              <a:t>두 개념 모두 기본적으로 하는 기능은 같은 형태이다</a:t>
            </a:r>
            <a:r>
              <a:rPr lang="en-US" altLang="ko-KR" sz="1800" b="1" dirty="0"/>
              <a:t>.</a:t>
            </a:r>
            <a:br>
              <a:rPr lang="en-US" altLang="ko-KR" sz="1800" b="1" dirty="0"/>
            </a:br>
            <a:br>
              <a:rPr lang="en-US" altLang="ko-KR" sz="1800" b="1" dirty="0">
                <a:solidFill>
                  <a:srgbClr val="00B050"/>
                </a:solidFill>
              </a:rPr>
            </a:br>
            <a:endParaRPr lang="en-US" altLang="ko-KR" sz="18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5220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연산자 오버로딩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593" y="1052736"/>
            <a:ext cx="6762750" cy="52101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817" y="1196752"/>
            <a:ext cx="6443687" cy="864096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3972731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연산자 오버로딩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980728"/>
            <a:ext cx="5906418" cy="53332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124745"/>
            <a:ext cx="3600450" cy="1314450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1860" y="4797153"/>
            <a:ext cx="4000500" cy="40957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cxnSp>
        <p:nvCxnSpPr>
          <p:cNvPr id="9" name="직선 화살표 연결선 8"/>
          <p:cNvCxnSpPr/>
          <p:nvPr/>
        </p:nvCxnSpPr>
        <p:spPr>
          <a:xfrm flipV="1">
            <a:off x="3059832" y="5001940"/>
            <a:ext cx="752028" cy="204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7488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연산자 오버로딩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864" y="1052736"/>
            <a:ext cx="6192688" cy="52204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312" y="1295548"/>
            <a:ext cx="4049152" cy="1206624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1152288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전역 함수 오버로딩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908720"/>
            <a:ext cx="5619750" cy="54292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307" y="3681975"/>
            <a:ext cx="4361785" cy="1269107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3601643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en-US" altLang="ko-KR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cin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en-US" altLang="ko-KR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cout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연산자 오버로딩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362" y="1171260"/>
            <a:ext cx="8421275" cy="45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182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en-US" altLang="ko-KR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cin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en-US" altLang="ko-KR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cout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연산자 오버로딩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652" y="1390365"/>
            <a:ext cx="8392696" cy="407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530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en-US" altLang="ko-KR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cin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en-US" altLang="ko-KR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cout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연산자 오버로딩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88" y="1823813"/>
            <a:ext cx="8402223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857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en-US" altLang="ko-KR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cin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en-US" altLang="ko-KR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cout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연산자 오버로딩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026" y="1052736"/>
            <a:ext cx="7710451" cy="492661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259" y="1032379"/>
            <a:ext cx="8402223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985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단항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연산자 오버로딩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142" y="1270256"/>
            <a:ext cx="6678285" cy="49685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4534" y="3457396"/>
            <a:ext cx="3255987" cy="30243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014" y="1052419"/>
            <a:ext cx="3297786" cy="1669634"/>
          </a:xfrm>
          <a:prstGeom prst="rect">
            <a:avLst/>
          </a:prstGeom>
          <a:ln>
            <a:solidFill>
              <a:srgbClr val="C00000"/>
            </a:solidFill>
          </a:ln>
        </p:spPr>
      </p:pic>
      <p:cxnSp>
        <p:nvCxnSpPr>
          <p:cNvPr id="9" name="직선 화살표 연결선 8"/>
          <p:cNvCxnSpPr/>
          <p:nvPr/>
        </p:nvCxnSpPr>
        <p:spPr>
          <a:xfrm flipH="1">
            <a:off x="3506462" y="4798648"/>
            <a:ext cx="1080120" cy="72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/>
          <p:nvPr/>
        </p:nvCxnSpPr>
        <p:spPr>
          <a:xfrm flipH="1" flipV="1">
            <a:off x="3146422" y="3718528"/>
            <a:ext cx="1512168" cy="2016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3664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대입 연산자 오버로딩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817668"/>
            <a:ext cx="7141499" cy="43204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840" y="102157"/>
            <a:ext cx="2880320" cy="29946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728" y="3761434"/>
            <a:ext cx="3815705" cy="1197544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4147381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대입 연산자 오버로딩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390813"/>
            <a:ext cx="5949564" cy="48965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8904" y="1032855"/>
            <a:ext cx="3600400" cy="242763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4243109"/>
            <a:ext cx="3534891" cy="1947365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8" name="폭발 1 6"/>
          <p:cNvSpPr/>
          <p:nvPr/>
        </p:nvSpPr>
        <p:spPr>
          <a:xfrm>
            <a:off x="2267744" y="3422998"/>
            <a:ext cx="2376264" cy="1640223"/>
          </a:xfrm>
          <a:prstGeom prst="irregularSeal1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중복 소멸</a:t>
            </a:r>
            <a:r>
              <a:rPr lang="en-US" altLang="ko-KR" b="1" dirty="0"/>
              <a:t>!!!</a:t>
            </a:r>
            <a:endParaRPr lang="ko-KR" altLang="en-US" b="1" dirty="0"/>
          </a:p>
        </p:txBody>
      </p:sp>
      <p:sp>
        <p:nvSpPr>
          <p:cNvPr id="9" name="폭발 2 10"/>
          <p:cNvSpPr/>
          <p:nvPr/>
        </p:nvSpPr>
        <p:spPr>
          <a:xfrm>
            <a:off x="7007464" y="1558091"/>
            <a:ext cx="2339752" cy="2104193"/>
          </a:xfrm>
          <a:prstGeom prst="irregularSeal2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메모리 누수</a:t>
            </a:r>
            <a:r>
              <a:rPr lang="en-US" altLang="ko-KR" b="1" dirty="0"/>
              <a:t>!!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081527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대입 연산자 오버로딩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190382"/>
            <a:ext cx="5543550" cy="48577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왼쪽 화살표 5"/>
          <p:cNvSpPr/>
          <p:nvPr/>
        </p:nvSpPr>
        <p:spPr>
          <a:xfrm>
            <a:off x="4644008" y="3134598"/>
            <a:ext cx="1800200" cy="288032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444208" y="2918574"/>
            <a:ext cx="239841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기존에 있던 문자열을</a:t>
            </a:r>
            <a:endParaRPr lang="en-US" altLang="ko-KR" sz="1400" b="1" dirty="0"/>
          </a:p>
          <a:p>
            <a:r>
              <a:rPr lang="ko-KR" altLang="en-US" sz="1400" b="1" dirty="0"/>
              <a:t>해제시키고</a:t>
            </a:r>
            <a:r>
              <a:rPr lang="en-US" altLang="ko-KR" sz="1400" b="1" dirty="0"/>
              <a:t>,</a:t>
            </a:r>
            <a:br>
              <a:rPr lang="en-US" altLang="ko-KR" sz="1400" b="1" dirty="0"/>
            </a:br>
            <a:r>
              <a:rPr lang="ko-KR" altLang="en-US" sz="1400" b="1" dirty="0"/>
              <a:t>문자열이 복사되긴 하지만</a:t>
            </a:r>
            <a:endParaRPr lang="en-US" altLang="ko-KR" sz="1400" b="1" dirty="0"/>
          </a:p>
          <a:p>
            <a:r>
              <a:rPr lang="ko-KR" altLang="en-US" sz="1400" b="1" dirty="0"/>
              <a:t>중복 소멸이 일어나지 않음</a:t>
            </a:r>
            <a:r>
              <a:rPr lang="en-US" altLang="ko-KR" sz="1400" b="1" dirty="0"/>
              <a:t>!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763194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73420" y="2339260"/>
            <a:ext cx="9710464" cy="4188123"/>
          </a:xfrm>
        </p:spPr>
        <p:txBody>
          <a:bodyPr>
            <a:noAutofit/>
          </a:bodyPr>
          <a:lstStyle/>
          <a:p>
            <a:r>
              <a:rPr lang="ko-KR" altLang="en-US" sz="1800" dirty="0">
                <a:latin typeface="+mn-lt"/>
              </a:rPr>
              <a:t>요구사항</a:t>
            </a:r>
            <a:endParaRPr lang="en-US" altLang="ko-KR" sz="1800" dirty="0">
              <a:latin typeface="+mn-lt"/>
            </a:endParaRPr>
          </a:p>
          <a:p>
            <a:pPr lvl="1"/>
            <a:r>
              <a:rPr lang="en-US" altLang="ko-KR" sz="1800" dirty="0">
                <a:latin typeface="+mn-lt"/>
              </a:rPr>
              <a:t>Fraction </a:t>
            </a:r>
            <a:r>
              <a:rPr lang="ko-KR" altLang="en-US" sz="1800" dirty="0">
                <a:latin typeface="+mn-lt"/>
              </a:rPr>
              <a:t>클래스 생성 </a:t>
            </a:r>
            <a:r>
              <a:rPr lang="en-US" altLang="ko-KR" sz="1800" dirty="0">
                <a:latin typeface="+mn-lt"/>
              </a:rPr>
              <a:t>&lt;</a:t>
            </a:r>
            <a:r>
              <a:rPr lang="en-US" altLang="ko-KR" sz="1800" dirty="0" err="1">
                <a:latin typeface="+mn-lt"/>
              </a:rPr>
              <a:t>Fraction.h</a:t>
            </a:r>
            <a:r>
              <a:rPr lang="en-US" altLang="ko-KR" sz="1800" dirty="0">
                <a:latin typeface="+mn-lt"/>
              </a:rPr>
              <a:t>  Fraction.cpp  main.cpp&gt;</a:t>
            </a:r>
            <a:r>
              <a:rPr lang="ko-KR" altLang="en-US" sz="1800" dirty="0">
                <a:latin typeface="+mn-lt"/>
              </a:rPr>
              <a:t>로 분할</a:t>
            </a:r>
            <a:endParaRPr lang="en-US" altLang="ko-KR" sz="1800" dirty="0">
              <a:latin typeface="+mn-lt"/>
            </a:endParaRPr>
          </a:p>
          <a:p>
            <a:pPr lvl="1"/>
            <a:r>
              <a:rPr lang="ko-KR" altLang="en-US" sz="1800" dirty="0">
                <a:latin typeface="+mn-lt"/>
              </a:rPr>
              <a:t>사용자로부터 </a:t>
            </a:r>
            <a:r>
              <a:rPr lang="en-US" altLang="ko-KR" sz="1800" dirty="0">
                <a:latin typeface="+mn-lt"/>
              </a:rPr>
              <a:t>2</a:t>
            </a:r>
            <a:r>
              <a:rPr lang="ko-KR" altLang="en-US" sz="1800" dirty="0">
                <a:latin typeface="+mn-lt"/>
              </a:rPr>
              <a:t>개의 분수를 입력 받음 </a:t>
            </a:r>
            <a:r>
              <a:rPr lang="en-US" altLang="ko-KR" sz="1800" b="1" dirty="0">
                <a:latin typeface="+mn-lt"/>
              </a:rPr>
              <a:t>&lt;</a:t>
            </a:r>
            <a:r>
              <a:rPr lang="ko-KR" altLang="en-US" sz="1800" b="1" dirty="0">
                <a:latin typeface="+mn-lt"/>
              </a:rPr>
              <a:t>분자</a:t>
            </a:r>
            <a:r>
              <a:rPr lang="en-US" altLang="ko-KR" sz="1800" b="1" dirty="0">
                <a:latin typeface="+mn-lt"/>
              </a:rPr>
              <a:t>&gt;/&lt;</a:t>
            </a:r>
            <a:r>
              <a:rPr lang="ko-KR" altLang="en-US" sz="1800" b="1" dirty="0">
                <a:latin typeface="+mn-lt"/>
              </a:rPr>
              <a:t>분모</a:t>
            </a:r>
            <a:r>
              <a:rPr lang="en-US" altLang="ko-KR" sz="1800" b="1" dirty="0">
                <a:latin typeface="+mn-lt"/>
              </a:rPr>
              <a:t>&gt; </a:t>
            </a:r>
            <a:r>
              <a:rPr lang="ko-KR" altLang="en-US" sz="1800" b="1" dirty="0">
                <a:latin typeface="+mn-lt"/>
              </a:rPr>
              <a:t>형식</a:t>
            </a:r>
            <a:endParaRPr lang="en-US" altLang="ko-KR" sz="1800" b="1" dirty="0">
              <a:latin typeface="+mn-lt"/>
            </a:endParaRPr>
          </a:p>
          <a:p>
            <a:pPr lvl="1"/>
            <a:r>
              <a:rPr lang="ko-KR" altLang="en-US" sz="1800" dirty="0">
                <a:latin typeface="+mn-lt"/>
              </a:rPr>
              <a:t>분자와 분모는 </a:t>
            </a:r>
            <a:r>
              <a:rPr lang="en-US" altLang="ko-KR" sz="1800" dirty="0">
                <a:latin typeface="+mn-lt"/>
              </a:rPr>
              <a:t>“</a:t>
            </a:r>
            <a:r>
              <a:rPr lang="ko-KR" altLang="en-US" sz="1800" dirty="0">
                <a:latin typeface="+mn-lt"/>
              </a:rPr>
              <a:t>두 자리 자연수</a:t>
            </a:r>
            <a:r>
              <a:rPr lang="en-US" altLang="ko-KR" sz="1800" dirty="0">
                <a:latin typeface="+mn-lt"/>
              </a:rPr>
              <a:t>”</a:t>
            </a:r>
            <a:r>
              <a:rPr lang="ko-KR" altLang="en-US" sz="1800" dirty="0">
                <a:latin typeface="+mn-lt"/>
              </a:rPr>
              <a:t>로 제한</a:t>
            </a:r>
            <a:r>
              <a:rPr lang="en-US" altLang="ko-KR" sz="1800" dirty="0">
                <a:latin typeface="+mn-lt"/>
              </a:rPr>
              <a:t> (1~9</a:t>
            </a:r>
            <a:r>
              <a:rPr lang="ko-KR" altLang="en-US" sz="1800" dirty="0">
                <a:latin typeface="+mn-lt"/>
              </a:rPr>
              <a:t>는 </a:t>
            </a:r>
            <a:r>
              <a:rPr lang="en-US" altLang="ko-KR" sz="1800" dirty="0">
                <a:latin typeface="+mn-lt"/>
              </a:rPr>
              <a:t>01~09</a:t>
            </a:r>
            <a:r>
              <a:rPr lang="ko-KR" altLang="en-US" sz="1800" dirty="0">
                <a:latin typeface="+mn-lt"/>
              </a:rPr>
              <a:t>로 표기하세요</a:t>
            </a:r>
            <a:r>
              <a:rPr lang="en-US" altLang="ko-KR" sz="1800" dirty="0">
                <a:latin typeface="+mn-lt"/>
              </a:rPr>
              <a:t>.)</a:t>
            </a:r>
          </a:p>
          <a:p>
            <a:pPr lvl="1"/>
            <a:r>
              <a:rPr lang="en-US" altLang="ko-KR" sz="1800" dirty="0">
                <a:latin typeface="+mn-lt"/>
              </a:rPr>
              <a:t>+ </a:t>
            </a:r>
            <a:r>
              <a:rPr lang="ko-KR" altLang="en-US" sz="1800" dirty="0">
                <a:latin typeface="+mn-lt"/>
              </a:rPr>
              <a:t>연산자는 멤버함수</a:t>
            </a:r>
            <a:r>
              <a:rPr lang="en-US" altLang="ko-KR" sz="1800" dirty="0">
                <a:latin typeface="+mn-lt"/>
              </a:rPr>
              <a:t>, - </a:t>
            </a:r>
            <a:r>
              <a:rPr lang="ko-KR" altLang="en-US" sz="1800" dirty="0">
                <a:latin typeface="+mn-lt"/>
              </a:rPr>
              <a:t>연산자는 전역 함수</a:t>
            </a:r>
            <a:endParaRPr lang="en-US" altLang="ko-KR" sz="1800" dirty="0">
              <a:latin typeface="+mn-lt"/>
            </a:endParaRPr>
          </a:p>
          <a:p>
            <a:pPr lvl="1"/>
            <a:r>
              <a:rPr lang="ko-KR" altLang="en-US" sz="1800" dirty="0">
                <a:latin typeface="+mn-lt"/>
              </a:rPr>
              <a:t>실습 시간에 배운 </a:t>
            </a:r>
            <a:r>
              <a:rPr lang="ko-KR" altLang="en-US" sz="1800" b="1" dirty="0">
                <a:solidFill>
                  <a:srgbClr val="FF0000"/>
                </a:solidFill>
                <a:latin typeface="+mn-lt"/>
              </a:rPr>
              <a:t>모든</a:t>
            </a:r>
            <a:r>
              <a:rPr lang="ko-KR" altLang="en-US" sz="1800" dirty="0">
                <a:latin typeface="+mn-lt"/>
              </a:rPr>
              <a:t> 연산자 오버로딩 방법을 사용</a:t>
            </a:r>
            <a:r>
              <a:rPr lang="en-US" altLang="ko-KR" sz="1800" dirty="0">
                <a:latin typeface="+mn-lt"/>
              </a:rPr>
              <a:t>! (</a:t>
            </a:r>
            <a:r>
              <a:rPr lang="ko-KR" altLang="en-US" sz="1800" dirty="0" err="1">
                <a:latin typeface="+mn-lt"/>
              </a:rPr>
              <a:t>단항</a:t>
            </a:r>
            <a:r>
              <a:rPr lang="en-US" altLang="ko-KR" sz="1800" dirty="0">
                <a:latin typeface="+mn-lt"/>
              </a:rPr>
              <a:t>, </a:t>
            </a:r>
            <a:r>
              <a:rPr lang="ko-KR" altLang="en-US" sz="1800" dirty="0">
                <a:latin typeface="+mn-lt"/>
              </a:rPr>
              <a:t>대입 연산자 제외</a:t>
            </a:r>
            <a:r>
              <a:rPr lang="en-US" altLang="ko-KR" sz="1800" dirty="0">
                <a:latin typeface="+mn-lt"/>
              </a:rPr>
              <a:t>)</a:t>
            </a:r>
          </a:p>
          <a:p>
            <a:pPr lvl="1"/>
            <a:r>
              <a:rPr lang="ko-KR" altLang="en-US" sz="1800" dirty="0">
                <a:latin typeface="+mn-lt"/>
              </a:rPr>
              <a:t>결과는 기약 분수로 출력</a:t>
            </a:r>
            <a:endParaRPr lang="en-US" altLang="ko-KR" sz="1800" dirty="0">
              <a:latin typeface="+mn-lt"/>
            </a:endParaRPr>
          </a:p>
          <a:p>
            <a:pPr lvl="1"/>
            <a:r>
              <a:rPr lang="en-US" altLang="ko-KR" sz="1800" dirty="0">
                <a:latin typeface="+mn-lt"/>
              </a:rPr>
              <a:t> class </a:t>
            </a:r>
            <a:r>
              <a:rPr lang="en-US" altLang="ko-KR" sz="1800" dirty="0" err="1">
                <a:latin typeface="+mn-lt"/>
              </a:rPr>
              <a:t>Franction</a:t>
            </a:r>
            <a:br>
              <a:rPr lang="en-US" altLang="ko-KR" sz="1800" dirty="0">
                <a:latin typeface="+mn-lt"/>
              </a:rPr>
            </a:br>
            <a:r>
              <a:rPr lang="en-US" altLang="ko-KR" sz="1800" dirty="0">
                <a:latin typeface="+mn-lt"/>
              </a:rPr>
              <a:t>{</a:t>
            </a:r>
            <a:br>
              <a:rPr lang="en-US" altLang="ko-KR" sz="1800" dirty="0">
                <a:latin typeface="+mn-lt"/>
              </a:rPr>
            </a:br>
            <a:r>
              <a:rPr lang="en-US" altLang="ko-KR" sz="1800" dirty="0">
                <a:latin typeface="+mn-lt"/>
              </a:rPr>
              <a:t>  ….</a:t>
            </a:r>
            <a:br>
              <a:rPr lang="en-US" altLang="ko-KR" sz="1800" dirty="0">
                <a:latin typeface="+mn-lt"/>
              </a:rPr>
            </a:br>
            <a:r>
              <a:rPr lang="en-US" altLang="ko-KR" sz="1800" dirty="0">
                <a:latin typeface="+mn-lt"/>
              </a:rPr>
              <a:t>private:</a:t>
            </a:r>
            <a:br>
              <a:rPr lang="en-US" altLang="ko-KR" sz="1800" dirty="0">
                <a:latin typeface="+mn-lt"/>
              </a:rPr>
            </a:br>
            <a:r>
              <a:rPr lang="en-US" altLang="ko-KR" sz="1800" dirty="0">
                <a:latin typeface="+mn-lt"/>
              </a:rPr>
              <a:t>  </a:t>
            </a:r>
            <a:r>
              <a:rPr lang="en-US" altLang="ko-KR" sz="1800" dirty="0" err="1">
                <a:latin typeface="+mn-lt"/>
              </a:rPr>
              <a:t>int</a:t>
            </a:r>
            <a:r>
              <a:rPr lang="en-US" altLang="ko-KR" sz="1800" dirty="0">
                <a:latin typeface="+mn-lt"/>
              </a:rPr>
              <a:t> numerator, denominator;</a:t>
            </a:r>
            <a:br>
              <a:rPr lang="en-US" altLang="ko-KR" sz="1800" dirty="0">
                <a:latin typeface="+mn-lt"/>
              </a:rPr>
            </a:br>
            <a:r>
              <a:rPr lang="en-US" altLang="ko-KR" sz="1800" dirty="0">
                <a:latin typeface="+mn-lt"/>
              </a:rPr>
              <a:t>}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473" y="639602"/>
            <a:ext cx="5601524" cy="187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19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과제 주의사항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17</a:t>
            </a:fld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51520" y="1628800"/>
            <a:ext cx="8820472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꼭 프로젝트 폴더 전체를 압축하여 제출하세요</a:t>
            </a:r>
            <a:r>
              <a:rPr lang="en-US" altLang="ko-KR" b="1" dirty="0"/>
              <a:t>. </a:t>
            </a:r>
            <a:r>
              <a:rPr lang="en-US" altLang="ko-KR" b="1" dirty="0">
                <a:solidFill>
                  <a:srgbClr val="FF0000"/>
                </a:solidFill>
              </a:rPr>
              <a:t>(</a:t>
            </a:r>
            <a:r>
              <a:rPr lang="ko-KR" altLang="en-US" b="1" dirty="0">
                <a:solidFill>
                  <a:srgbClr val="FF0000"/>
                </a:solidFill>
              </a:rPr>
              <a:t>학번</a:t>
            </a:r>
            <a:r>
              <a:rPr lang="en-US" altLang="ko-KR" b="1" dirty="0">
                <a:solidFill>
                  <a:srgbClr val="FF0000"/>
                </a:solidFill>
              </a:rPr>
              <a:t>_</a:t>
            </a:r>
            <a:r>
              <a:rPr lang="ko-KR" altLang="en-US" b="1" dirty="0">
                <a:solidFill>
                  <a:srgbClr val="FF0000"/>
                </a:solidFill>
              </a:rPr>
              <a:t>이름</a:t>
            </a:r>
            <a:r>
              <a:rPr lang="en-US" altLang="ko-KR" b="1" dirty="0">
                <a:solidFill>
                  <a:srgbClr val="FF0000"/>
                </a:solidFill>
              </a:rPr>
              <a:t>).zip</a:t>
            </a:r>
            <a:r>
              <a:rPr lang="en-US" altLang="ko-KR" b="1" dirty="0"/>
              <a:t> </a:t>
            </a:r>
            <a:r>
              <a:rPr lang="ko-KR" altLang="en-US" b="1" dirty="0"/>
              <a:t>형태로 제출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br>
              <a:rPr lang="en-US" altLang="ko-KR" b="1" dirty="0"/>
            </a:b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주석 처리 해주시기 바랍니다</a:t>
            </a:r>
            <a:r>
              <a:rPr lang="en-US" altLang="ko-KR" b="1" dirty="0"/>
              <a:t>. </a:t>
            </a:r>
            <a:r>
              <a:rPr lang="ko-KR" altLang="en-US" b="1" dirty="0"/>
              <a:t>없을 시에 감점</a:t>
            </a:r>
            <a:r>
              <a:rPr lang="en-US" altLang="ko-KR" b="1" dirty="0"/>
              <a:t>.|</a:t>
            </a:r>
            <a:br>
              <a:rPr lang="en-US" altLang="ko-KR" b="1" dirty="0"/>
            </a:br>
            <a:br>
              <a:rPr lang="en-US" altLang="ko-KR" b="1" dirty="0"/>
            </a:b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과제 제출 시간이 </a:t>
            </a:r>
            <a:r>
              <a:rPr lang="en-US" altLang="ko-KR" b="1" dirty="0"/>
              <a:t>11</a:t>
            </a:r>
            <a:r>
              <a:rPr lang="ko-KR" altLang="en-US" b="1" dirty="0"/>
              <a:t>시</a:t>
            </a:r>
            <a:r>
              <a:rPr lang="en-US" altLang="ko-KR" b="1" dirty="0"/>
              <a:t>59</a:t>
            </a:r>
            <a:r>
              <a:rPr lang="ko-KR" altLang="en-US" b="1" dirty="0"/>
              <a:t>분</a:t>
            </a:r>
            <a:r>
              <a:rPr lang="en-US" altLang="ko-KR" b="1" dirty="0"/>
              <a:t>59</a:t>
            </a:r>
            <a:r>
              <a:rPr lang="ko-KR" altLang="en-US" b="1" dirty="0"/>
              <a:t>초에서 </a:t>
            </a:r>
            <a:r>
              <a:rPr lang="en-US" altLang="ko-KR" b="1" dirty="0">
                <a:solidFill>
                  <a:srgbClr val="FF0000"/>
                </a:solidFill>
              </a:rPr>
              <a:t>1</a:t>
            </a:r>
            <a:r>
              <a:rPr lang="ko-KR" altLang="en-US" b="1" dirty="0">
                <a:solidFill>
                  <a:srgbClr val="FF0000"/>
                </a:solidFill>
              </a:rPr>
              <a:t>초라도 늦으면 불인정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br>
              <a:rPr lang="en-US" altLang="ko-KR" b="1" dirty="0"/>
            </a:b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과제 성적 문의는 상담시간을 참고하여 하이테크 </a:t>
            </a:r>
            <a:r>
              <a:rPr lang="en-US" altLang="ko-KR" b="1" dirty="0"/>
              <a:t>1307</a:t>
            </a:r>
            <a:r>
              <a:rPr lang="ko-KR" altLang="en-US" b="1" dirty="0"/>
              <a:t>호로 오세요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r>
              <a:rPr lang="en-US" altLang="ko-KR" sz="1600" b="1" dirty="0"/>
              <a:t>(</a:t>
            </a:r>
            <a:r>
              <a:rPr lang="ko-KR" altLang="en-US" sz="1600" b="1" dirty="0"/>
              <a:t>정말 이건 감점 사유가 아니다 싶은 것만 오시길 바랍니다</a:t>
            </a:r>
            <a:r>
              <a:rPr lang="en-US" altLang="ko-KR" sz="1600" b="1" dirty="0"/>
              <a:t>.)</a:t>
            </a:r>
            <a:br>
              <a:rPr lang="en-US" altLang="ko-KR" b="1" dirty="0"/>
            </a:br>
            <a:br>
              <a:rPr lang="en-US" altLang="ko-KR" b="1" dirty="0"/>
            </a:br>
            <a:br>
              <a:rPr lang="en-US" altLang="ko-KR" sz="1400" b="1" dirty="0"/>
            </a:b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2340478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1950</TotalTime>
  <Words>191</Words>
  <Application>Microsoft Office PowerPoint</Application>
  <PresentationFormat>화면 슬라이드 쇼(4:3)</PresentationFormat>
  <Paragraphs>71</Paragraphs>
  <Slides>17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17</vt:i4>
      </vt:variant>
    </vt:vector>
  </HeadingPairs>
  <TitlesOfParts>
    <vt:vector size="24" baseType="lpstr">
      <vt:lpstr>Arial Unicode MS</vt:lpstr>
      <vt:lpstr>맑은 고딕</vt:lpstr>
      <vt:lpstr>Arial</vt:lpstr>
      <vt:lpstr>Tahoma</vt:lpstr>
      <vt:lpstr>Times New Roman</vt:lpstr>
      <vt:lpstr>Office 테마</vt:lpstr>
      <vt:lpstr>디자인 사용자 지정</vt:lpstr>
      <vt:lpstr>Object-oriented Programming</vt:lpstr>
      <vt:lpstr>연산자 오버로딩</vt:lpstr>
      <vt:lpstr>연산자 오버로딩</vt:lpstr>
      <vt:lpstr>연산자 오버로딩</vt:lpstr>
      <vt:lpstr>연산자 오버로딩</vt:lpstr>
      <vt:lpstr>연산자 오버로딩</vt:lpstr>
      <vt:lpstr>전역 함수 오버로딩</vt:lpstr>
      <vt:lpstr>cin, cout연산자 오버로딩</vt:lpstr>
      <vt:lpstr>cin, cout연산자 오버로딩</vt:lpstr>
      <vt:lpstr>cin, cout연산자 오버로딩</vt:lpstr>
      <vt:lpstr>cin, cout연산자 오버로딩</vt:lpstr>
      <vt:lpstr>단항 연산자 오버로딩</vt:lpstr>
      <vt:lpstr>대입 연산자 오버로딩</vt:lpstr>
      <vt:lpstr>대입 연산자 오버로딩</vt:lpstr>
      <vt:lpstr>대입 연산자 오버로딩</vt:lpstr>
      <vt:lpstr>과제</vt:lpstr>
      <vt:lpstr>과제 주의사항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</dc:title>
  <dc:creator>Hanju</dc:creator>
  <cp:lastModifiedBy>Zzan</cp:lastModifiedBy>
  <cp:revision>194</cp:revision>
  <cp:lastPrinted>2015-10-28T23:12:44Z</cp:lastPrinted>
  <dcterms:created xsi:type="dcterms:W3CDTF">2012-06-15T20:49:53Z</dcterms:created>
  <dcterms:modified xsi:type="dcterms:W3CDTF">2016-09-22T02:05:27Z</dcterms:modified>
</cp:coreProperties>
</file>